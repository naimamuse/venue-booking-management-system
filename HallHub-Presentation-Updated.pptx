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1" r:id="rId2"/>
    <p:sldId id="257" r:id="rId3"/>
    <p:sldId id="273" r:id="rId4"/>
    <p:sldId id="264" r:id="rId5"/>
    <p:sldId id="27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238BA-0DAA-4017-B4DD-8FBAA138C55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4804D-0DD3-4069-899B-51E449A0C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15CDB-C3FC-2094-6070-F4DCDDEB255B}"/>
              </a:ext>
            </a:extLst>
          </p:cNvPr>
          <p:cNvSpPr/>
          <p:nvPr/>
        </p:nvSpPr>
        <p:spPr>
          <a:xfrm>
            <a:off x="1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BE2EE8BC-90CA-C1F4-7208-C9D9CBC84D65}"/>
              </a:ext>
            </a:extLst>
          </p:cNvPr>
          <p:cNvSpPr/>
          <p:nvPr/>
        </p:nvSpPr>
        <p:spPr>
          <a:xfrm>
            <a:off x="1045387" y="194414"/>
            <a:ext cx="10101226" cy="6896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26FC19DA-15F5-6D8E-80DD-371952795398}"/>
              </a:ext>
            </a:extLst>
          </p:cNvPr>
          <p:cNvSpPr/>
          <p:nvPr/>
        </p:nvSpPr>
        <p:spPr>
          <a:xfrm>
            <a:off x="1329228" y="318058"/>
            <a:ext cx="1215668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C8DB64-30CB-7C63-5FDF-0E1EF937E74F}"/>
              </a:ext>
            </a:extLst>
          </p:cNvPr>
          <p:cNvSpPr txBox="1"/>
          <p:nvPr/>
        </p:nvSpPr>
        <p:spPr>
          <a:xfrm>
            <a:off x="1349963" y="395508"/>
            <a:ext cx="1179375" cy="29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6414BA-4E0E-9A5A-185D-F5106C45C3E5}"/>
              </a:ext>
            </a:extLst>
          </p:cNvPr>
          <p:cNvSpPr txBox="1"/>
          <p:nvPr/>
        </p:nvSpPr>
        <p:spPr>
          <a:xfrm>
            <a:off x="3717369" y="33881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7A3A6A"/>
                </a:solidFill>
                <a:latin typeface="Calibri"/>
              </a:rPr>
              <a:t>HallHub</a:t>
            </a:r>
            <a:endParaRPr sz="1600" b="1" dirty="0">
              <a:solidFill>
                <a:srgbClr val="7A3A6A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48D72-85B7-8157-22F0-176F4D741839}"/>
              </a:ext>
            </a:extLst>
          </p:cNvPr>
          <p:cNvSpPr/>
          <p:nvPr/>
        </p:nvSpPr>
        <p:spPr>
          <a:xfrm>
            <a:off x="3984995" y="638869"/>
            <a:ext cx="747065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7133E1-2DEE-1D5D-8372-1AE3EB051C16}"/>
              </a:ext>
            </a:extLst>
          </p:cNvPr>
          <p:cNvSpPr txBox="1"/>
          <p:nvPr/>
        </p:nvSpPr>
        <p:spPr>
          <a:xfrm>
            <a:off x="5474362" y="346034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Problem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1DE79A-B030-C3F4-2C73-9E990628B5B2}"/>
              </a:ext>
            </a:extLst>
          </p:cNvPr>
          <p:cNvSpPr txBox="1"/>
          <p:nvPr/>
        </p:nvSpPr>
        <p:spPr>
          <a:xfrm>
            <a:off x="6745148" y="356942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Solution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290076-F67A-0D7F-F827-99289E06331B}"/>
              </a:ext>
            </a:extLst>
          </p:cNvPr>
          <p:cNvSpPr txBox="1"/>
          <p:nvPr/>
        </p:nvSpPr>
        <p:spPr>
          <a:xfrm>
            <a:off x="8263282" y="36576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Features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3F78CF-3FB4-CF08-33C6-9EA7505C875F}"/>
              </a:ext>
            </a:extLst>
          </p:cNvPr>
          <p:cNvSpPr txBox="1"/>
          <p:nvPr/>
        </p:nvSpPr>
        <p:spPr>
          <a:xfrm>
            <a:off x="588862" y="1328264"/>
            <a:ext cx="439462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0" b="1" dirty="0">
                <a:solidFill>
                  <a:srgbClr val="4A2040"/>
                </a:solidFill>
                <a:latin typeface="Georgia"/>
              </a:rPr>
              <a:t>Hall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526670-C8CE-EEFC-B7FE-72F07EBF228C}"/>
              </a:ext>
            </a:extLst>
          </p:cNvPr>
          <p:cNvSpPr txBox="1"/>
          <p:nvPr/>
        </p:nvSpPr>
        <p:spPr>
          <a:xfrm>
            <a:off x="3788663" y="2332440"/>
            <a:ext cx="422059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0" b="1" dirty="0">
                <a:solidFill>
                  <a:schemeClr val="accent6">
                    <a:lumMod val="75000"/>
                  </a:schemeClr>
                </a:solidFill>
                <a:latin typeface="Georgia"/>
              </a:rPr>
              <a:t>Hub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86C8BD1-B292-41FB-FD85-108DE1672856}"/>
              </a:ext>
            </a:extLst>
          </p:cNvPr>
          <p:cNvSpPr/>
          <p:nvPr/>
        </p:nvSpPr>
        <p:spPr>
          <a:xfrm>
            <a:off x="10823561" y="1194203"/>
            <a:ext cx="484743" cy="689681"/>
          </a:xfrm>
          <a:prstGeom prst="ellipse">
            <a:avLst/>
          </a:prstGeom>
          <a:noFill/>
          <a:ln w="22225">
            <a:solidFill>
              <a:srgbClr val="4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26FDA1-9A9F-2C12-CD73-74846B9650A4}"/>
              </a:ext>
            </a:extLst>
          </p:cNvPr>
          <p:cNvSpPr/>
          <p:nvPr/>
        </p:nvSpPr>
        <p:spPr>
          <a:xfrm>
            <a:off x="10649826" y="1396309"/>
            <a:ext cx="818734" cy="276999"/>
          </a:xfrm>
          <a:prstGeom prst="ellipse">
            <a:avLst/>
          </a:prstGeom>
          <a:noFill/>
          <a:ln w="19050">
            <a:solidFill>
              <a:srgbClr val="C5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1BC4DC-EB81-5C51-6B2B-A3677D6EEBE8}"/>
              </a:ext>
            </a:extLst>
          </p:cNvPr>
          <p:cNvSpPr txBox="1"/>
          <p:nvPr/>
        </p:nvSpPr>
        <p:spPr>
          <a:xfrm>
            <a:off x="3092026" y="4847220"/>
            <a:ext cx="9099973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 dirty="0">
                <a:solidFill>
                  <a:srgbClr val="4A2040"/>
                </a:solidFill>
                <a:latin typeface="Calibri"/>
              </a:rPr>
              <a:t>Venue Booking &amp; Management System</a:t>
            </a:r>
          </a:p>
          <a:p>
            <a:pPr>
              <a:spcAft>
                <a:spcPts val="200"/>
              </a:spcAft>
            </a:pPr>
            <a:r>
              <a:rPr sz="1600" b="1" i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Mission:</a:t>
            </a:r>
          </a:p>
          <a:p>
            <a:pPr>
              <a:spcAft>
                <a:spcPts val="1200"/>
              </a:spcAft>
            </a:pPr>
            <a:r>
              <a:rPr b="1" dirty="0">
                <a:latin typeface="Calibri"/>
              </a:rPr>
              <a:t>“Making venue discovery and booking simpler, faster, and more organized.”</a:t>
            </a:r>
          </a:p>
        </p:txBody>
      </p:sp>
      <p:sp>
        <p:nvSpPr>
          <p:cNvPr id="34" name="10-Point Star 18">
            <a:extLst>
              <a:ext uri="{FF2B5EF4-FFF2-40B4-BE49-F238E27FC236}">
                <a16:creationId xmlns:a16="http://schemas.microsoft.com/office/drawing/2014/main" id="{B26278D1-A240-AD10-7764-54E7641498E0}"/>
              </a:ext>
            </a:extLst>
          </p:cNvPr>
          <p:cNvSpPr/>
          <p:nvPr/>
        </p:nvSpPr>
        <p:spPr>
          <a:xfrm>
            <a:off x="749808" y="5934697"/>
            <a:ext cx="384048" cy="384048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F98D48-025C-9132-59F6-877BFAAD0649}"/>
              </a:ext>
            </a:extLst>
          </p:cNvPr>
          <p:cNvSpPr txBox="1"/>
          <p:nvPr/>
        </p:nvSpPr>
        <p:spPr>
          <a:xfrm>
            <a:off x="557784" y="63642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A814B1-23F3-1933-EA3C-B74D3C90A904}"/>
              </a:ext>
            </a:extLst>
          </p:cNvPr>
          <p:cNvSpPr txBox="1"/>
          <p:nvPr/>
        </p:nvSpPr>
        <p:spPr>
          <a:xfrm>
            <a:off x="10425853" y="6481756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dirty="0">
                <a:solidFill>
                  <a:srgbClr val="6B6570"/>
                </a:solidFill>
                <a:latin typeface="Calibri"/>
              </a:rPr>
              <a:t>01 / </a:t>
            </a:r>
            <a:r>
              <a:rPr lang="en-US" sz="1400" b="1" dirty="0">
                <a:solidFill>
                  <a:srgbClr val="6B6570"/>
                </a:solidFill>
                <a:latin typeface="Calibri"/>
              </a:rPr>
              <a:t>05</a:t>
            </a:r>
            <a:endParaRPr sz="1400" b="1" dirty="0">
              <a:solidFill>
                <a:srgbClr val="6B6570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6F0DD8-CEAC-2A17-E6FF-D8DB277F73BD}"/>
              </a:ext>
            </a:extLst>
          </p:cNvPr>
          <p:cNvSpPr txBox="1"/>
          <p:nvPr/>
        </p:nvSpPr>
        <p:spPr>
          <a:xfrm>
            <a:off x="9744757" y="352141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Future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145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4A2040"/>
                </a:solidFill>
                <a:latin typeface="Georgia"/>
              </a:rPr>
              <a:t>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194454" cy="4211748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" y="2060074"/>
            <a:ext cx="5346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Georgia"/>
              </a:rPr>
              <a:t>Key Challenges Faced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25" y="2750742"/>
            <a:ext cx="3664055" cy="1881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Venue Information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Venue Search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Booking Processes</a:t>
            </a:r>
            <a:endParaRPr b="1" i="0" dirty="0">
              <a:solidFill>
                <a:srgbClr val="2A1D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4082" y="653994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dirty="0">
                <a:solidFill>
                  <a:srgbClr val="6B6570"/>
                </a:solidFill>
                <a:latin typeface="Calibri"/>
              </a:rPr>
              <a:t>02 / </a:t>
            </a:r>
            <a:r>
              <a:rPr lang="en-US" sz="1400" b="1" dirty="0">
                <a:solidFill>
                  <a:srgbClr val="6B6570"/>
                </a:solidFill>
                <a:latin typeface="Calibri"/>
              </a:rPr>
              <a:t>05</a:t>
            </a:r>
            <a:endParaRPr sz="1400" b="1" dirty="0">
              <a:solidFill>
                <a:srgbClr val="6B6570"/>
              </a:solidFill>
              <a:latin typeface="Calibri"/>
            </a:endParaRP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FA1998DD-54FF-B159-EB50-6F6B034DC458}"/>
              </a:ext>
            </a:extLst>
          </p:cNvPr>
          <p:cNvSpPr/>
          <p:nvPr/>
        </p:nvSpPr>
        <p:spPr>
          <a:xfrm>
            <a:off x="1045387" y="194414"/>
            <a:ext cx="10101226" cy="6896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AF71B3EB-4CD0-187D-526A-BE5D4B1203CE}"/>
              </a:ext>
            </a:extLst>
          </p:cNvPr>
          <p:cNvSpPr/>
          <p:nvPr/>
        </p:nvSpPr>
        <p:spPr>
          <a:xfrm>
            <a:off x="1329228" y="318058"/>
            <a:ext cx="1215668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051B39-10F4-BF48-F775-08279F73E025}"/>
              </a:ext>
            </a:extLst>
          </p:cNvPr>
          <p:cNvSpPr txBox="1"/>
          <p:nvPr/>
        </p:nvSpPr>
        <p:spPr>
          <a:xfrm>
            <a:off x="1349963" y="395508"/>
            <a:ext cx="1179375" cy="29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B99BC3-5D6B-40B2-F725-D51934C1688C}"/>
              </a:ext>
            </a:extLst>
          </p:cNvPr>
          <p:cNvSpPr txBox="1"/>
          <p:nvPr/>
        </p:nvSpPr>
        <p:spPr>
          <a:xfrm>
            <a:off x="3717369" y="33881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7A3A6A"/>
                </a:solidFill>
                <a:latin typeface="Calibri"/>
              </a:rPr>
              <a:t>HallHub</a:t>
            </a:r>
            <a:endParaRPr sz="1600" b="1" dirty="0">
              <a:solidFill>
                <a:srgbClr val="7A3A6A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96D53F-F978-6C3E-95C0-87CB2CB0619E}"/>
              </a:ext>
            </a:extLst>
          </p:cNvPr>
          <p:cNvSpPr/>
          <p:nvPr/>
        </p:nvSpPr>
        <p:spPr>
          <a:xfrm>
            <a:off x="5600649" y="649777"/>
            <a:ext cx="747065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2C60D-50EB-5365-89FC-8232CE2D508A}"/>
              </a:ext>
            </a:extLst>
          </p:cNvPr>
          <p:cNvSpPr txBox="1"/>
          <p:nvPr/>
        </p:nvSpPr>
        <p:spPr>
          <a:xfrm>
            <a:off x="5474362" y="346034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Problem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E8122F-2A80-FD66-74C3-3D4F55AE8BB6}"/>
              </a:ext>
            </a:extLst>
          </p:cNvPr>
          <p:cNvSpPr txBox="1"/>
          <p:nvPr/>
        </p:nvSpPr>
        <p:spPr>
          <a:xfrm>
            <a:off x="6745148" y="356942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Solution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F62ECE-F8FD-AE5E-DA2B-BE169F0FA525}"/>
              </a:ext>
            </a:extLst>
          </p:cNvPr>
          <p:cNvSpPr txBox="1"/>
          <p:nvPr/>
        </p:nvSpPr>
        <p:spPr>
          <a:xfrm>
            <a:off x="8263282" y="36576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Features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5B0CEA-51F8-92D0-661B-B364455842A9}"/>
              </a:ext>
            </a:extLst>
          </p:cNvPr>
          <p:cNvSpPr txBox="1"/>
          <p:nvPr/>
        </p:nvSpPr>
        <p:spPr>
          <a:xfrm>
            <a:off x="9744757" y="352141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Future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AE6CEC-601A-7684-F1DF-C65CAE5C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3" t="47975" r="7180" b="2686"/>
          <a:stretch>
            <a:fillRect/>
          </a:stretch>
        </p:blipFill>
        <p:spPr>
          <a:xfrm>
            <a:off x="5794018" y="1357719"/>
            <a:ext cx="6009361" cy="4882530"/>
          </a:xfrm>
          <a:prstGeom prst="rect">
            <a:avLst/>
          </a:prstGeom>
        </p:spPr>
      </p:pic>
      <p:sp>
        <p:nvSpPr>
          <p:cNvPr id="40" name="10-Point Star 18">
            <a:extLst>
              <a:ext uri="{FF2B5EF4-FFF2-40B4-BE49-F238E27FC236}">
                <a16:creationId xmlns:a16="http://schemas.microsoft.com/office/drawing/2014/main" id="{121C4F66-0999-BBAF-882A-73714D30CFAE}"/>
              </a:ext>
            </a:extLst>
          </p:cNvPr>
          <p:cNvSpPr/>
          <p:nvPr/>
        </p:nvSpPr>
        <p:spPr>
          <a:xfrm>
            <a:off x="483604" y="6173403"/>
            <a:ext cx="373912" cy="337125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21A4-4E69-4A5A-0A6C-E047ACD7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D17423-C755-09F3-8613-39D954E40D5F}"/>
              </a:ext>
            </a:extLst>
          </p:cNvPr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9AC98-1158-EE8D-ACDB-5E30F279C22F}"/>
              </a:ext>
            </a:extLst>
          </p:cNvPr>
          <p:cNvSpPr txBox="1"/>
          <p:nvPr/>
        </p:nvSpPr>
        <p:spPr>
          <a:xfrm>
            <a:off x="457200" y="120700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A2040"/>
                </a:solidFill>
                <a:latin typeface="Georgia"/>
              </a:rPr>
              <a:t>Our Solution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B71039-DB87-B873-5DF2-40985DD4A8A4}"/>
              </a:ext>
            </a:extLst>
          </p:cNvPr>
          <p:cNvSpPr/>
          <p:nvPr/>
        </p:nvSpPr>
        <p:spPr>
          <a:xfrm>
            <a:off x="457200" y="1737360"/>
            <a:ext cx="5194454" cy="4211748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92946-4E06-4BAC-3198-DCD37A19D9CF}"/>
              </a:ext>
            </a:extLst>
          </p:cNvPr>
          <p:cNvSpPr txBox="1"/>
          <p:nvPr/>
        </p:nvSpPr>
        <p:spPr>
          <a:xfrm>
            <a:off x="640080" y="2060074"/>
            <a:ext cx="5346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Key Solutions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D81D1-803A-C1BF-6018-E5EE7B8264D7}"/>
              </a:ext>
            </a:extLst>
          </p:cNvPr>
          <p:cNvSpPr txBox="1"/>
          <p:nvPr/>
        </p:nvSpPr>
        <p:spPr>
          <a:xfrm>
            <a:off x="698625" y="2750742"/>
            <a:ext cx="4060662" cy="253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Venue Information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Availability Checking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Booking Management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endParaRPr b="1" i="0" dirty="0">
              <a:solidFill>
                <a:srgbClr val="2A1D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91FD2A-EF86-BEF8-9C78-6ED1D7DA7B1C}"/>
              </a:ext>
            </a:extLst>
          </p:cNvPr>
          <p:cNvSpPr txBox="1"/>
          <p:nvPr/>
        </p:nvSpPr>
        <p:spPr>
          <a:xfrm>
            <a:off x="284082" y="653994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6BD9AB-8C3A-4A40-DEF7-7939C2C3264A}"/>
              </a:ext>
            </a:extLst>
          </p:cNvPr>
          <p:cNvSpPr txBox="1"/>
          <p:nvPr/>
        </p:nvSpPr>
        <p:spPr>
          <a:xfrm>
            <a:off x="10241280" y="6510528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dirty="0">
                <a:solidFill>
                  <a:srgbClr val="6B6570"/>
                </a:solidFill>
                <a:latin typeface="Calibri"/>
              </a:rPr>
              <a:t>0</a:t>
            </a:r>
            <a:r>
              <a:rPr lang="en-US" sz="1400" b="1" dirty="0">
                <a:solidFill>
                  <a:srgbClr val="6B6570"/>
                </a:solidFill>
                <a:latin typeface="Calibri"/>
              </a:rPr>
              <a:t>3</a:t>
            </a:r>
            <a:r>
              <a:rPr sz="1400" b="1" dirty="0">
                <a:solidFill>
                  <a:srgbClr val="6B6570"/>
                </a:solidFill>
                <a:latin typeface="Calibri"/>
              </a:rPr>
              <a:t> / </a:t>
            </a:r>
            <a:r>
              <a:rPr lang="en-US" sz="1400" b="1" dirty="0">
                <a:solidFill>
                  <a:srgbClr val="6B6570"/>
                </a:solidFill>
                <a:latin typeface="Calibri"/>
              </a:rPr>
              <a:t>05</a:t>
            </a:r>
            <a:endParaRPr sz="1400" b="1" dirty="0">
              <a:solidFill>
                <a:srgbClr val="6B6570"/>
              </a:solidFill>
              <a:latin typeface="Calibri"/>
            </a:endParaRP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EE445F46-B670-3665-6BCD-45D695F8B520}"/>
              </a:ext>
            </a:extLst>
          </p:cNvPr>
          <p:cNvSpPr/>
          <p:nvPr/>
        </p:nvSpPr>
        <p:spPr>
          <a:xfrm>
            <a:off x="1045387" y="194414"/>
            <a:ext cx="10101226" cy="6896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B8C2BE77-C01D-B162-B18A-E6CB5D10D269}"/>
              </a:ext>
            </a:extLst>
          </p:cNvPr>
          <p:cNvSpPr/>
          <p:nvPr/>
        </p:nvSpPr>
        <p:spPr>
          <a:xfrm>
            <a:off x="1329228" y="318058"/>
            <a:ext cx="1215668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FD1EFB-3215-8710-CAC6-EF3D6800A13F}"/>
              </a:ext>
            </a:extLst>
          </p:cNvPr>
          <p:cNvSpPr txBox="1"/>
          <p:nvPr/>
        </p:nvSpPr>
        <p:spPr>
          <a:xfrm>
            <a:off x="1349963" y="395508"/>
            <a:ext cx="1179375" cy="29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9DAFD2-645E-2443-1C5E-06651482FECD}"/>
              </a:ext>
            </a:extLst>
          </p:cNvPr>
          <p:cNvSpPr txBox="1"/>
          <p:nvPr/>
        </p:nvSpPr>
        <p:spPr>
          <a:xfrm>
            <a:off x="3717369" y="33881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7A3A6A"/>
                </a:solidFill>
                <a:latin typeface="Calibri"/>
              </a:rPr>
              <a:t>HallHub</a:t>
            </a:r>
            <a:endParaRPr sz="1600" b="1" dirty="0">
              <a:solidFill>
                <a:srgbClr val="7A3A6A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3A7EA5-691F-7571-D1A2-BE85E03D4F09}"/>
              </a:ext>
            </a:extLst>
          </p:cNvPr>
          <p:cNvSpPr/>
          <p:nvPr/>
        </p:nvSpPr>
        <p:spPr>
          <a:xfrm>
            <a:off x="6980075" y="672636"/>
            <a:ext cx="747065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1ED91-7428-C17D-C804-5235138BCDEA}"/>
              </a:ext>
            </a:extLst>
          </p:cNvPr>
          <p:cNvSpPr txBox="1"/>
          <p:nvPr/>
        </p:nvSpPr>
        <p:spPr>
          <a:xfrm>
            <a:off x="5474362" y="346034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Problem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741C4-EA03-41E6-EA66-8568E16B335C}"/>
              </a:ext>
            </a:extLst>
          </p:cNvPr>
          <p:cNvSpPr txBox="1"/>
          <p:nvPr/>
        </p:nvSpPr>
        <p:spPr>
          <a:xfrm>
            <a:off x="6745148" y="356942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Solution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9E10CE-74CE-207E-B5D4-7FFD0C834BFD}"/>
              </a:ext>
            </a:extLst>
          </p:cNvPr>
          <p:cNvSpPr txBox="1"/>
          <p:nvPr/>
        </p:nvSpPr>
        <p:spPr>
          <a:xfrm>
            <a:off x="8263282" y="36576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Features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60EC2C-48FD-E507-049E-B2201C934FD0}"/>
              </a:ext>
            </a:extLst>
          </p:cNvPr>
          <p:cNvSpPr txBox="1"/>
          <p:nvPr/>
        </p:nvSpPr>
        <p:spPr>
          <a:xfrm>
            <a:off x="9744757" y="352141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Future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0" name="10-Point Star 18">
            <a:extLst>
              <a:ext uri="{FF2B5EF4-FFF2-40B4-BE49-F238E27FC236}">
                <a16:creationId xmlns:a16="http://schemas.microsoft.com/office/drawing/2014/main" id="{EA0FDE4C-8887-1FA8-7674-3DCE5EC4A51D}"/>
              </a:ext>
            </a:extLst>
          </p:cNvPr>
          <p:cNvSpPr/>
          <p:nvPr/>
        </p:nvSpPr>
        <p:spPr>
          <a:xfrm>
            <a:off x="483604" y="6173403"/>
            <a:ext cx="373912" cy="337125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1E442-F217-BF1B-04DB-B606D0DDB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2" t="7294" r="4147" b="4638"/>
          <a:stretch>
            <a:fillRect/>
          </a:stretch>
        </p:blipFill>
        <p:spPr>
          <a:xfrm>
            <a:off x="5878040" y="1288972"/>
            <a:ext cx="6024400" cy="47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1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-91441"/>
            <a:ext cx="12207240" cy="7032067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65760" y="967919"/>
            <a:ext cx="3490144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4A2040"/>
                </a:solidFill>
                <a:latin typeface="Georgia"/>
              </a:rPr>
              <a:t>Three main features</a:t>
            </a:r>
            <a:endParaRPr sz="2500" b="1" i="0" dirty="0">
              <a:solidFill>
                <a:srgbClr val="4A2040"/>
              </a:solidFill>
              <a:latin typeface="Georgi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81434" y="6510528"/>
            <a:ext cx="52257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i="0" dirty="0">
                <a:solidFill>
                  <a:srgbClr val="6B6570"/>
                </a:solidFill>
                <a:latin typeface="Calibri"/>
              </a:rPr>
              <a:t>04 / 0</a:t>
            </a:r>
            <a:r>
              <a:rPr lang="en-US" sz="1400" b="1" i="0" dirty="0">
                <a:solidFill>
                  <a:srgbClr val="6B6570"/>
                </a:solidFill>
                <a:latin typeface="Calibri"/>
              </a:rPr>
              <a:t>5</a:t>
            </a:r>
            <a:endParaRPr sz="1400" b="1" i="0" dirty="0">
              <a:solidFill>
                <a:srgbClr val="6B6570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0185" y="1841292"/>
            <a:ext cx="3158033" cy="1355452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54760" y="1867151"/>
            <a:ext cx="1928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endParaRPr sz="2400" b="1" i="0" dirty="0">
              <a:solidFill>
                <a:srgbClr val="4A2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2448135"/>
            <a:ext cx="2557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Book Halls</a:t>
            </a:r>
            <a:endParaRPr b="1" i="0" dirty="0">
              <a:solidFill>
                <a:srgbClr val="2A1D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76FB8A2D-7875-B3E2-A5A0-88B749BAECE1}"/>
              </a:ext>
            </a:extLst>
          </p:cNvPr>
          <p:cNvSpPr/>
          <p:nvPr/>
        </p:nvSpPr>
        <p:spPr>
          <a:xfrm>
            <a:off x="946236" y="65624"/>
            <a:ext cx="10101226" cy="6896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3BEE0CDB-1372-0B06-3FFA-FB607E953C28}"/>
              </a:ext>
            </a:extLst>
          </p:cNvPr>
          <p:cNvSpPr/>
          <p:nvPr/>
        </p:nvSpPr>
        <p:spPr>
          <a:xfrm>
            <a:off x="1230077" y="189268"/>
            <a:ext cx="1215668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8CE936-3A4F-7F2C-0681-962E774BEAC4}"/>
              </a:ext>
            </a:extLst>
          </p:cNvPr>
          <p:cNvSpPr txBox="1"/>
          <p:nvPr/>
        </p:nvSpPr>
        <p:spPr>
          <a:xfrm>
            <a:off x="1250812" y="266718"/>
            <a:ext cx="1179375" cy="29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4BB789-0BDB-C733-CF34-4445EE50BDA5}"/>
              </a:ext>
            </a:extLst>
          </p:cNvPr>
          <p:cNvSpPr txBox="1"/>
          <p:nvPr/>
        </p:nvSpPr>
        <p:spPr>
          <a:xfrm>
            <a:off x="3618218" y="21002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7A3A6A"/>
                </a:solidFill>
                <a:latin typeface="Calibri"/>
              </a:rPr>
              <a:t>HallHub</a:t>
            </a:r>
            <a:endParaRPr sz="1600" b="1" dirty="0">
              <a:solidFill>
                <a:srgbClr val="7A3A6A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ADD7D3-0B91-44CB-9D3D-7336F2901DA9}"/>
              </a:ext>
            </a:extLst>
          </p:cNvPr>
          <p:cNvSpPr/>
          <p:nvPr/>
        </p:nvSpPr>
        <p:spPr>
          <a:xfrm>
            <a:off x="8411369" y="587032"/>
            <a:ext cx="747065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FEA2FF-A038-C4E2-C03A-F4703F91BFA6}"/>
              </a:ext>
            </a:extLst>
          </p:cNvPr>
          <p:cNvSpPr txBox="1"/>
          <p:nvPr/>
        </p:nvSpPr>
        <p:spPr>
          <a:xfrm>
            <a:off x="5375211" y="217244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Problem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390F14-7CE1-CB03-6D83-43E9F73A068A}"/>
              </a:ext>
            </a:extLst>
          </p:cNvPr>
          <p:cNvSpPr txBox="1"/>
          <p:nvPr/>
        </p:nvSpPr>
        <p:spPr>
          <a:xfrm>
            <a:off x="6645997" y="228152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Solution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EBF4AA-18C3-D753-3E95-EAAF6E62856E}"/>
              </a:ext>
            </a:extLst>
          </p:cNvPr>
          <p:cNvSpPr txBox="1"/>
          <p:nvPr/>
        </p:nvSpPr>
        <p:spPr>
          <a:xfrm>
            <a:off x="8164131" y="23697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Features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07A75D-FB8E-C5FC-0EE3-44AA4962B25A}"/>
              </a:ext>
            </a:extLst>
          </p:cNvPr>
          <p:cNvSpPr txBox="1"/>
          <p:nvPr/>
        </p:nvSpPr>
        <p:spPr>
          <a:xfrm>
            <a:off x="9645606" y="223351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Future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5" name="Rounded Rectangle 16">
            <a:extLst>
              <a:ext uri="{FF2B5EF4-FFF2-40B4-BE49-F238E27FC236}">
                <a16:creationId xmlns:a16="http://schemas.microsoft.com/office/drawing/2014/main" id="{89364130-8A53-E1B4-8F98-FF684B1B1452}"/>
              </a:ext>
            </a:extLst>
          </p:cNvPr>
          <p:cNvSpPr/>
          <p:nvPr/>
        </p:nvSpPr>
        <p:spPr>
          <a:xfrm>
            <a:off x="3858325" y="3150513"/>
            <a:ext cx="3350566" cy="1394905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770EB6-929B-1489-79E5-30A3008DAFD6}"/>
              </a:ext>
            </a:extLst>
          </p:cNvPr>
          <p:cNvSpPr txBox="1"/>
          <p:nvPr/>
        </p:nvSpPr>
        <p:spPr>
          <a:xfrm>
            <a:off x="3962596" y="3259600"/>
            <a:ext cx="2447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Owner </a:t>
            </a:r>
            <a:endParaRPr sz="2400" b="1" i="0" dirty="0">
              <a:solidFill>
                <a:srgbClr val="4A2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304000-587F-C9AD-64CB-04537946CAE0}"/>
              </a:ext>
            </a:extLst>
          </p:cNvPr>
          <p:cNvSpPr txBox="1"/>
          <p:nvPr/>
        </p:nvSpPr>
        <p:spPr>
          <a:xfrm>
            <a:off x="4135642" y="3792935"/>
            <a:ext cx="279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Halls &amp; Bookings</a:t>
            </a:r>
            <a:endParaRPr b="1" i="0" dirty="0">
              <a:solidFill>
                <a:srgbClr val="2A1D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16">
            <a:extLst>
              <a:ext uri="{FF2B5EF4-FFF2-40B4-BE49-F238E27FC236}">
                <a16:creationId xmlns:a16="http://schemas.microsoft.com/office/drawing/2014/main" id="{D75C6E97-DC79-F979-74E1-55E338717F8A}"/>
              </a:ext>
            </a:extLst>
          </p:cNvPr>
          <p:cNvSpPr/>
          <p:nvPr/>
        </p:nvSpPr>
        <p:spPr>
          <a:xfrm>
            <a:off x="7392797" y="4492504"/>
            <a:ext cx="3563066" cy="1394905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4FE238-24F8-F921-917B-A0D2F6DBD204}"/>
              </a:ext>
            </a:extLst>
          </p:cNvPr>
          <p:cNvSpPr txBox="1"/>
          <p:nvPr/>
        </p:nvSpPr>
        <p:spPr>
          <a:xfrm>
            <a:off x="8157604" y="4557446"/>
            <a:ext cx="2277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 </a:t>
            </a:r>
            <a:endParaRPr sz="2400" b="1" i="0" dirty="0">
              <a:solidFill>
                <a:srgbClr val="4A2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4F1F7A-C5DB-98AE-4F8A-8142EF076B83}"/>
              </a:ext>
            </a:extLst>
          </p:cNvPr>
          <p:cNvSpPr txBox="1"/>
          <p:nvPr/>
        </p:nvSpPr>
        <p:spPr>
          <a:xfrm>
            <a:off x="7555055" y="5176387"/>
            <a:ext cx="3238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&amp; Approve Hotels</a:t>
            </a:r>
            <a:endParaRPr b="1" i="0" dirty="0">
              <a:solidFill>
                <a:srgbClr val="2A1D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10-Point Star 18">
            <a:extLst>
              <a:ext uri="{FF2B5EF4-FFF2-40B4-BE49-F238E27FC236}">
                <a16:creationId xmlns:a16="http://schemas.microsoft.com/office/drawing/2014/main" id="{D364EA8A-4A59-539B-22B3-6A2934323FD2}"/>
              </a:ext>
            </a:extLst>
          </p:cNvPr>
          <p:cNvSpPr/>
          <p:nvPr/>
        </p:nvSpPr>
        <p:spPr>
          <a:xfrm>
            <a:off x="10812480" y="5989595"/>
            <a:ext cx="373912" cy="337125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10-Point Star 18">
            <a:extLst>
              <a:ext uri="{FF2B5EF4-FFF2-40B4-BE49-F238E27FC236}">
                <a16:creationId xmlns:a16="http://schemas.microsoft.com/office/drawing/2014/main" id="{616F8EEC-781D-A177-7FB5-C428A2AD653F}"/>
              </a:ext>
            </a:extLst>
          </p:cNvPr>
          <p:cNvSpPr/>
          <p:nvPr/>
        </p:nvSpPr>
        <p:spPr>
          <a:xfrm>
            <a:off x="6744618" y="4713496"/>
            <a:ext cx="373912" cy="337125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10-Point Star 18">
            <a:extLst>
              <a:ext uri="{FF2B5EF4-FFF2-40B4-BE49-F238E27FC236}">
                <a16:creationId xmlns:a16="http://schemas.microsoft.com/office/drawing/2014/main" id="{0E8F229B-EC02-8DD2-9649-ABE9425A70B2}"/>
              </a:ext>
            </a:extLst>
          </p:cNvPr>
          <p:cNvSpPr/>
          <p:nvPr/>
        </p:nvSpPr>
        <p:spPr>
          <a:xfrm>
            <a:off x="3212978" y="3384140"/>
            <a:ext cx="373912" cy="337125"/>
          </a:xfrm>
          <a:prstGeom prst="star10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7B29-DDB0-760A-1F6A-F8B1AF30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381714-F0AF-73D6-F9C6-09259F2235E6}"/>
              </a:ext>
            </a:extLst>
          </p:cNvPr>
          <p:cNvSpPr/>
          <p:nvPr/>
        </p:nvSpPr>
        <p:spPr>
          <a:xfrm>
            <a:off x="-15240" y="-91441"/>
            <a:ext cx="12207240" cy="7032067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E5A77-B792-9F66-8CD5-69A36FEC1BEA}"/>
              </a:ext>
            </a:extLst>
          </p:cNvPr>
          <p:cNvSpPr txBox="1"/>
          <p:nvPr/>
        </p:nvSpPr>
        <p:spPr>
          <a:xfrm>
            <a:off x="365760" y="967919"/>
            <a:ext cx="3490144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dirty="0">
                <a:solidFill>
                  <a:srgbClr val="4A2040"/>
                </a:solidFill>
                <a:latin typeface="Georgia"/>
              </a:rPr>
              <a:t>Future enhancement </a:t>
            </a:r>
            <a:endParaRPr sz="2500" b="1" i="0" dirty="0">
              <a:solidFill>
                <a:srgbClr val="4A2040"/>
              </a:solidFill>
              <a:latin typeface="Georgi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E389E5-377A-1E6A-AE81-89DBDEB93E7C}"/>
              </a:ext>
            </a:extLst>
          </p:cNvPr>
          <p:cNvSpPr txBox="1"/>
          <p:nvPr/>
        </p:nvSpPr>
        <p:spPr>
          <a:xfrm>
            <a:off x="36576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220CF3-16A3-B8B4-ABBA-374179B653A9}"/>
              </a:ext>
            </a:extLst>
          </p:cNvPr>
          <p:cNvSpPr txBox="1"/>
          <p:nvPr/>
        </p:nvSpPr>
        <p:spPr>
          <a:xfrm>
            <a:off x="10981434" y="6510528"/>
            <a:ext cx="52257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i="0" dirty="0">
                <a:solidFill>
                  <a:srgbClr val="6B6570"/>
                </a:solidFill>
                <a:latin typeface="Calibri"/>
              </a:rPr>
              <a:t>0</a:t>
            </a:r>
            <a:r>
              <a:rPr lang="en-US" sz="1400" b="1" i="0" dirty="0">
                <a:solidFill>
                  <a:srgbClr val="6B6570"/>
                </a:solidFill>
                <a:latin typeface="Calibri"/>
              </a:rPr>
              <a:t>5 </a:t>
            </a:r>
            <a:r>
              <a:rPr sz="1400" b="1" i="0" dirty="0">
                <a:solidFill>
                  <a:srgbClr val="6B6570"/>
                </a:solidFill>
                <a:latin typeface="Calibri"/>
              </a:rPr>
              <a:t>/ 0</a:t>
            </a:r>
            <a:r>
              <a:rPr lang="en-US" sz="1400" b="1" i="0" dirty="0">
                <a:solidFill>
                  <a:srgbClr val="6B6570"/>
                </a:solidFill>
                <a:latin typeface="Calibri"/>
              </a:rPr>
              <a:t>5</a:t>
            </a:r>
            <a:endParaRPr sz="1400" b="1" i="0" dirty="0">
              <a:solidFill>
                <a:srgbClr val="6B6570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6893BD-E154-D88E-B17C-91E83B06D614}"/>
              </a:ext>
            </a:extLst>
          </p:cNvPr>
          <p:cNvSpPr/>
          <p:nvPr/>
        </p:nvSpPr>
        <p:spPr>
          <a:xfrm>
            <a:off x="822396" y="1561656"/>
            <a:ext cx="3158033" cy="1355452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40ED32-6363-489B-0337-D4E6BCA68C37}"/>
              </a:ext>
            </a:extLst>
          </p:cNvPr>
          <p:cNvSpPr txBox="1"/>
          <p:nvPr/>
        </p:nvSpPr>
        <p:spPr>
          <a:xfrm>
            <a:off x="1163280" y="1666248"/>
            <a:ext cx="21443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</a:t>
            </a:r>
            <a:endParaRPr sz="2400" b="1" i="0" dirty="0">
              <a:solidFill>
                <a:srgbClr val="4A2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8F8527F7-54E5-263D-E0A1-8B34AA07EB51}"/>
              </a:ext>
            </a:extLst>
          </p:cNvPr>
          <p:cNvSpPr/>
          <p:nvPr/>
        </p:nvSpPr>
        <p:spPr>
          <a:xfrm>
            <a:off x="946236" y="65624"/>
            <a:ext cx="10101226" cy="6896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5004DCF6-BD00-AD97-0832-07539281A967}"/>
              </a:ext>
            </a:extLst>
          </p:cNvPr>
          <p:cNvSpPr/>
          <p:nvPr/>
        </p:nvSpPr>
        <p:spPr>
          <a:xfrm>
            <a:off x="1230077" y="189268"/>
            <a:ext cx="1215668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975DBB-432B-1A2A-7FCC-5862FE47E124}"/>
              </a:ext>
            </a:extLst>
          </p:cNvPr>
          <p:cNvSpPr txBox="1"/>
          <p:nvPr/>
        </p:nvSpPr>
        <p:spPr>
          <a:xfrm>
            <a:off x="1250812" y="266718"/>
            <a:ext cx="1179375" cy="29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DD536-B539-AC70-2A6B-E9F100CC87BB}"/>
              </a:ext>
            </a:extLst>
          </p:cNvPr>
          <p:cNvSpPr txBox="1"/>
          <p:nvPr/>
        </p:nvSpPr>
        <p:spPr>
          <a:xfrm>
            <a:off x="3618218" y="21002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7A3A6A"/>
                </a:solidFill>
                <a:latin typeface="Calibri"/>
              </a:rPr>
              <a:t>HallHub</a:t>
            </a:r>
            <a:endParaRPr sz="1600" b="1" dirty="0">
              <a:solidFill>
                <a:srgbClr val="7A3A6A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B4EDDF-3B9B-1375-B2F9-B538FB6852D7}"/>
              </a:ext>
            </a:extLst>
          </p:cNvPr>
          <p:cNvSpPr/>
          <p:nvPr/>
        </p:nvSpPr>
        <p:spPr>
          <a:xfrm>
            <a:off x="9925186" y="532938"/>
            <a:ext cx="747065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FF79E4-0475-E2E3-CEB2-A6D1CBD86FED}"/>
              </a:ext>
            </a:extLst>
          </p:cNvPr>
          <p:cNvSpPr txBox="1"/>
          <p:nvPr/>
        </p:nvSpPr>
        <p:spPr>
          <a:xfrm>
            <a:off x="5375211" y="217244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Problem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396795-D9C0-F85E-5E6F-00530FEA1499}"/>
              </a:ext>
            </a:extLst>
          </p:cNvPr>
          <p:cNvSpPr txBox="1"/>
          <p:nvPr/>
        </p:nvSpPr>
        <p:spPr>
          <a:xfrm>
            <a:off x="6645997" y="228152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Solution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712843-22C9-D6C2-584C-C85B887F35D1}"/>
              </a:ext>
            </a:extLst>
          </p:cNvPr>
          <p:cNvSpPr txBox="1"/>
          <p:nvPr/>
        </p:nvSpPr>
        <p:spPr>
          <a:xfrm>
            <a:off x="8164131" y="23697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Features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8BFC29-2BB4-A47E-7B49-21DB602F662D}"/>
              </a:ext>
            </a:extLst>
          </p:cNvPr>
          <p:cNvSpPr txBox="1"/>
          <p:nvPr/>
        </p:nvSpPr>
        <p:spPr>
          <a:xfrm>
            <a:off x="9645606" y="223351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4A2040"/>
                </a:solidFill>
                <a:latin typeface="Calibri"/>
              </a:rPr>
              <a:t>Future</a:t>
            </a:r>
            <a:endParaRPr sz="1600" b="1" dirty="0">
              <a:solidFill>
                <a:srgbClr val="4A2040"/>
              </a:solidFill>
              <a:latin typeface="Calibri"/>
            </a:endParaRPr>
          </a:p>
        </p:txBody>
      </p:sp>
      <p:sp>
        <p:nvSpPr>
          <p:cNvPr id="45" name="Rounded Rectangle 16">
            <a:extLst>
              <a:ext uri="{FF2B5EF4-FFF2-40B4-BE49-F238E27FC236}">
                <a16:creationId xmlns:a16="http://schemas.microsoft.com/office/drawing/2014/main" id="{2D2EC5C0-3671-C531-F88C-A3A9727F7907}"/>
              </a:ext>
            </a:extLst>
          </p:cNvPr>
          <p:cNvSpPr/>
          <p:nvPr/>
        </p:nvSpPr>
        <p:spPr>
          <a:xfrm>
            <a:off x="7480741" y="1485491"/>
            <a:ext cx="3350566" cy="1394905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186AF8-49AD-E007-00D5-DD6D8393CB3F}"/>
              </a:ext>
            </a:extLst>
          </p:cNvPr>
          <p:cNvSpPr txBox="1"/>
          <p:nvPr/>
        </p:nvSpPr>
        <p:spPr>
          <a:xfrm>
            <a:off x="7851245" y="1611802"/>
            <a:ext cx="2447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Commission</a:t>
            </a:r>
            <a:endParaRPr sz="2400" b="1" i="0" dirty="0">
              <a:solidFill>
                <a:srgbClr val="4A2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2335C-AE18-13D1-94A9-981A8B50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12" y="3260438"/>
            <a:ext cx="7776025" cy="3300145"/>
          </a:xfrm>
          <a:prstGeom prst="rect">
            <a:avLst/>
          </a:prstGeom>
          <a:ln w="57150"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223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131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Naimaa</dc:creator>
  <cp:keywords/>
  <dc:description>generated using python-pptx</dc:description>
  <cp:lastModifiedBy>naciima ahmed</cp:lastModifiedBy>
  <cp:revision>4</cp:revision>
  <dcterms:created xsi:type="dcterms:W3CDTF">2013-01-27T09:14:16Z</dcterms:created>
  <dcterms:modified xsi:type="dcterms:W3CDTF">2026-10-09T09:03:28Z</dcterms:modified>
  <cp:category/>
</cp:coreProperties>
</file>