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  <p:sldId id="26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300" y="-4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 err="1">
                <a:solidFill>
                  <a:srgbClr val="7A3A6A"/>
                </a:solidFill>
                <a:latin typeface="Calibri"/>
              </a:rPr>
              <a:t>HallHub</a:t>
            </a:r>
            <a:endParaRPr sz="1200" b="1" dirty="0">
              <a:solidFill>
                <a:srgbClr val="7A3A6A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7303" y="676656"/>
            <a:ext cx="588873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Future</a:t>
            </a:r>
          </a:p>
        </p:txBody>
      </p:sp>
      <p:sp>
        <p:nvSpPr>
          <p:cNvPr id="14" name="Oval 13"/>
          <p:cNvSpPr/>
          <p:nvPr/>
        </p:nvSpPr>
        <p:spPr>
          <a:xfrm>
            <a:off x="10561320" y="1051560"/>
            <a:ext cx="960120" cy="960120"/>
          </a:xfrm>
          <a:prstGeom prst="ellipse">
            <a:avLst/>
          </a:prstGeom>
          <a:noFill/>
          <a:ln w="22225">
            <a:solidFill>
              <a:srgbClr val="4A2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351008" y="1325880"/>
            <a:ext cx="1371600" cy="411480"/>
          </a:xfrm>
          <a:prstGeom prst="ellipse">
            <a:avLst/>
          </a:prstGeom>
          <a:noFill/>
          <a:ln w="19050">
            <a:solidFill>
              <a:srgbClr val="C5A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691640"/>
            <a:ext cx="2743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0" b="1" dirty="0">
                <a:solidFill>
                  <a:srgbClr val="4A2040"/>
                </a:solidFill>
                <a:latin typeface="Georgia"/>
              </a:rPr>
              <a:t>Hall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6560" y="2546604"/>
            <a:ext cx="31394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0" b="1" dirty="0">
                <a:solidFill>
                  <a:srgbClr val="C5A070"/>
                </a:solidFill>
                <a:latin typeface="Georgia"/>
              </a:rPr>
              <a:t>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627751"/>
            <a:ext cx="9099973" cy="902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 dirty="0">
                <a:solidFill>
                  <a:srgbClr val="4A2040"/>
                </a:solidFill>
                <a:latin typeface="Calibri"/>
              </a:rPr>
              <a:t>Venue Booking &amp; Management System</a:t>
            </a:r>
          </a:p>
          <a:p>
            <a:pPr>
              <a:spcAft>
                <a:spcPts val="200"/>
              </a:spcAft>
            </a:pPr>
            <a:r>
              <a:rPr sz="1300" b="1" i="0" dirty="0">
                <a:solidFill>
                  <a:srgbClr val="C5A070"/>
                </a:solidFill>
                <a:latin typeface="Calibri"/>
              </a:rPr>
              <a:t>Mission:</a:t>
            </a:r>
          </a:p>
          <a:p>
            <a:pPr>
              <a:spcAft>
                <a:spcPts val="1200"/>
              </a:spcAft>
            </a:pPr>
            <a:r>
              <a:rPr sz="1500" b="0" i="1" dirty="0">
                <a:solidFill>
                  <a:srgbClr val="6B6570"/>
                </a:solidFill>
                <a:latin typeface="Calibri"/>
              </a:rPr>
              <a:t>“Making venue discovery and booking simpler, faster, and more organized.”</a:t>
            </a:r>
          </a:p>
        </p:txBody>
      </p:sp>
      <p:sp>
        <p:nvSpPr>
          <p:cNvPr id="19" name="10-Point Star 18"/>
          <p:cNvSpPr/>
          <p:nvPr/>
        </p:nvSpPr>
        <p:spPr>
          <a:xfrm>
            <a:off x="640080" y="5806440"/>
            <a:ext cx="384048" cy="384048"/>
          </a:xfrm>
          <a:prstGeom prst="star10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01 / 08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337E8E-72BF-8777-B335-6CAED80E739F}"/>
              </a:ext>
            </a:extLst>
          </p:cNvPr>
          <p:cNvSpPr txBox="1"/>
          <p:nvPr/>
        </p:nvSpPr>
        <p:spPr>
          <a:xfrm>
            <a:off x="8781288" y="2954052"/>
            <a:ext cx="31394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800" b="1" u="sng" dirty="0">
                <a:latin typeface="Calibri"/>
              </a:rPr>
              <a:t>Group Names: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Calibri"/>
              </a:rPr>
              <a:t>Naima Muse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Calibri"/>
              </a:rPr>
              <a:t>Rahma Mukhtar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 err="1"/>
              <a:t>Abdicasiis</a:t>
            </a:r>
            <a:r>
              <a:rPr lang="en-US" dirty="0"/>
              <a:t> Mohamed 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Naima Abdulkarim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Sahal Khalif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Abdiqani Abdilahi</a:t>
            </a:r>
          </a:p>
          <a:p>
            <a:pPr>
              <a:spcAft>
                <a:spcPts val="600"/>
              </a:spcAft>
            </a:pPr>
            <a:endParaRPr lang="en-US" dirty="0"/>
          </a:p>
          <a:p>
            <a:pPr>
              <a:spcAft>
                <a:spcPts val="600"/>
              </a:spcAft>
            </a:pPr>
            <a:endParaRPr lang="en-US" sz="1800" b="0" dirty="0"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16439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8649" y="676656"/>
            <a:ext cx="614476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A2040"/>
                </a:solidFill>
                <a:latin typeface="Georgia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" y="1737360"/>
            <a:ext cx="8609683" cy="4443984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94678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C5A070"/>
                </a:solidFill>
                <a:latin typeface="Calibri"/>
              </a:rPr>
              <a:t>THE PROBLEM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0648" y="2264160"/>
            <a:ext cx="53461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A2040"/>
                </a:solidFill>
                <a:latin typeface="Georgia"/>
              </a:rPr>
              <a:t>Key Challenges Faced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647" y="2973758"/>
            <a:ext cx="8144441" cy="1959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0" i="0" dirty="0">
                <a:solidFill>
                  <a:srgbClr val="2A1D33"/>
                </a:solidFill>
                <a:latin typeface="Calibri"/>
              </a:rPr>
              <a:t>🔎  Difficult Venue Discovery — Finding suitable halls and reliable information takes time.</a:t>
            </a:r>
          </a:p>
          <a:p>
            <a:pPr>
              <a:spcAft>
                <a:spcPts val="800"/>
              </a:spcAft>
            </a:pPr>
            <a:r>
              <a:rPr b="0" i="0" dirty="0">
                <a:solidFill>
                  <a:srgbClr val="2A1D33"/>
                </a:solidFill>
                <a:latin typeface="Calibri"/>
              </a:rPr>
              <a:t>📅  Limited Availability Information — Customers may struggle to know which halls are available.</a:t>
            </a:r>
          </a:p>
          <a:p>
            <a:pPr>
              <a:spcAft>
                <a:spcPts val="800"/>
              </a:spcAft>
            </a:pPr>
            <a:r>
              <a:rPr b="0" i="0" dirty="0">
                <a:solidFill>
                  <a:srgbClr val="2A1D33"/>
                </a:solidFill>
                <a:latin typeface="Calibri"/>
              </a:rPr>
              <a:t>📝  Manual Booking &amp; Management — Traditional booking processes are inefficient for customers and hotel owners.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24906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7A3A6A"/>
                </a:solidFill>
                <a:latin typeface="Calibri"/>
              </a:rPr>
              <a:t>Gaps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90000" y="676656"/>
            <a:ext cx="520000" cy="16459"/>
          </a:xfrm>
          <a:prstGeom prst="rect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4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500" b="1" i="0">
                <a:solidFill>
                  <a:srgbClr val="4A2040"/>
                </a:solidFill>
                <a:latin typeface="Georgia"/>
              </a:rPr>
              <a:t>Bridging the critical gap in venue 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03 / 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553212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547172" y="1917360"/>
            <a:ext cx="4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 dirty="0">
                <a:solidFill>
                  <a:srgbClr val="4A2040"/>
                </a:solidFill>
                <a:latin typeface="Georgia"/>
              </a:rPr>
              <a:t>Why It Matters</a:t>
            </a:r>
          </a:p>
        </p:txBody>
      </p:sp>
      <p:sp>
        <p:nvSpPr>
          <p:cNvPr id="20" name="Rounded Rectangle 16"/>
          <p:cNvSpPr/>
          <p:nvPr/>
        </p:nvSpPr>
        <p:spPr>
          <a:xfrm>
            <a:off x="6217920" y="1819657"/>
            <a:ext cx="553212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6306819" y="1917360"/>
            <a:ext cx="4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 dirty="0">
                <a:solidFill>
                  <a:srgbClr val="4A2040"/>
                </a:solidFill>
                <a:latin typeface="Georgia"/>
              </a:rPr>
              <a:t>Current Gaps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2887360"/>
            <a:ext cx="18473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endParaRPr sz="1200" b="0" i="0" dirty="0">
              <a:solidFill>
                <a:srgbClr val="2A1D33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7200" y="5441982"/>
            <a:ext cx="11292840" cy="75000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5500000"/>
            <a:ext cx="1129284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C5A070"/>
                </a:solidFill>
                <a:latin typeface="Calibri"/>
              </a:rPr>
              <a:t>THE GAP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“Customers and multiple venues are not efficiently connected in one platform.”</a:t>
            </a:r>
          </a:p>
        </p:txBody>
      </p:sp>
      <p:sp>
        <p:nvSpPr>
          <p:cNvPr id="39" name="Rectangle 7">
            <a:extLst>
              <a:ext uri="{FF2B5EF4-FFF2-40B4-BE49-F238E27FC236}">
                <a16:creationId xmlns:a16="http://schemas.microsoft.com/office/drawing/2014/main" id="{864F084D-272C-1C45-750E-397A52F6A3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232" y="2679775"/>
            <a:ext cx="5352176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⏱️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Saves Time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Makes finding and booking venues faster. 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sz="1400" dirty="0"/>
              <a:t>🤝 </a:t>
            </a:r>
            <a:r>
              <a:rPr lang="en-US" sz="1400" b="1" dirty="0"/>
              <a:t>Improves Access</a:t>
            </a:r>
            <a:r>
              <a:rPr lang="en-US" sz="1400" dirty="0"/>
              <a:t> — Connects customers with more venue options.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sz="1400" dirty="0"/>
              <a:t>📊 </a:t>
            </a:r>
            <a:r>
              <a:rPr lang="en-US" sz="1400" b="1" dirty="0"/>
              <a:t>Improves Management</a:t>
            </a:r>
            <a:r>
              <a:rPr lang="en-US" sz="1400" dirty="0"/>
              <a:t> — Helps hotel owners manage bookings more efficiently.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10">
            <a:extLst>
              <a:ext uri="{FF2B5EF4-FFF2-40B4-BE49-F238E27FC236}">
                <a16:creationId xmlns:a16="http://schemas.microsoft.com/office/drawing/2014/main" id="{65DFD989-9E34-0DD0-83B0-BF1143CB0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5992" y="2826928"/>
            <a:ext cx="5204008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📞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Booking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Reliance on calls, messages, and in-person visits.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Arial" panose="020B0604020202020204" pitchFamily="34" charset="0"/>
              </a:rPr>
              <a:t>🏨 </a:t>
            </a:r>
            <a:r>
              <a:rPr lang="en-US" altLang="en-US" sz="1400" b="1" dirty="0">
                <a:latin typeface="Arial" panose="020B0604020202020204" pitchFamily="34" charset="0"/>
              </a:rPr>
              <a:t>Limited Platforms</a:t>
            </a:r>
            <a:r>
              <a:rPr lang="en-US" altLang="en-US" sz="1400" dirty="0">
                <a:latin typeface="Arial" panose="020B0604020202020204" pitchFamily="34" charset="0"/>
              </a:rPr>
              <a:t> — Existing systems mainly </a:t>
            </a:r>
            <a:r>
              <a:rPr lang="en-US" altLang="en-US" sz="1400" dirty="0" err="1">
                <a:latin typeface="Arial" panose="020B0604020202020204" pitchFamily="34" charset="0"/>
              </a:rPr>
              <a:t>focs</a:t>
            </a:r>
            <a:r>
              <a:rPr lang="en-US" altLang="en-US" sz="1400" dirty="0">
                <a:latin typeface="Arial" panose="020B0604020202020204" pitchFamily="34" charset="0"/>
              </a:rPr>
              <a:t> on individual hotels.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Arial" panose="020B0604020202020204" pitchFamily="34" charset="0"/>
              </a:rPr>
              <a:t>🔎 </a:t>
            </a:r>
            <a:r>
              <a:rPr lang="en-US" altLang="en-US" sz="1400" b="1" dirty="0">
                <a:latin typeface="Arial" panose="020B0604020202020204" pitchFamily="34" charset="0"/>
              </a:rPr>
              <a:t>Scattered Information</a:t>
            </a:r>
            <a:r>
              <a:rPr lang="en-US" altLang="en-US" sz="1400" dirty="0">
                <a:latin typeface="Arial" panose="020B0604020202020204" pitchFamily="34" charset="0"/>
              </a:rPr>
              <a:t> — No centralized, up-to-date venue information.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-91440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7A3A6A"/>
                </a:solidFill>
                <a:latin typeface="Calibri"/>
              </a:rPr>
              <a:t>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0000" y="676656"/>
            <a:ext cx="520000" cy="16459"/>
          </a:xfrm>
          <a:prstGeom prst="rect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967919"/>
            <a:ext cx="2487507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 i="0" dirty="0">
                <a:solidFill>
                  <a:srgbClr val="4A2040"/>
                </a:solidFill>
                <a:latin typeface="Georgia"/>
              </a:rPr>
              <a:t>Our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04 / 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5213" y="1459387"/>
            <a:ext cx="1129284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 dirty="0" err="1">
                <a:solidFill>
                  <a:srgbClr val="6B6570"/>
                </a:solidFill>
                <a:latin typeface="Calibri"/>
              </a:rPr>
              <a:t>HallHub</a:t>
            </a:r>
            <a:r>
              <a:rPr sz="1500" b="0" i="0" dirty="0">
                <a:solidFill>
                  <a:srgbClr val="6B6570"/>
                </a:solidFill>
                <a:latin typeface="Calibri"/>
              </a:rPr>
              <a:t> is a web-based platform that connects customers with multiple hotels and halls in one 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000000"/>
            <a:ext cx="365760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Oval 17"/>
          <p:cNvSpPr/>
          <p:nvPr/>
        </p:nvSpPr>
        <p:spPr>
          <a:xfrm>
            <a:off x="640080" y="2104178"/>
            <a:ext cx="384048" cy="384048"/>
          </a:xfrm>
          <a:prstGeom prst="ellipse">
            <a:avLst/>
          </a:prstGeom>
          <a:solidFill>
            <a:srgbClr val="F4E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33856" y="2184614"/>
            <a:ext cx="310896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dirty="0">
                <a:solidFill>
                  <a:srgbClr val="4A2040"/>
                </a:solidFill>
                <a:latin typeface="Georgia"/>
              </a:rPr>
              <a:t>🏨  Venue Discovery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593" y="2913453"/>
            <a:ext cx="309719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 dirty="0">
                <a:solidFill>
                  <a:srgbClr val="C5A070"/>
                </a:solidFill>
                <a:latin typeface="Calibri"/>
              </a:rPr>
              <a:t>Explore multiple halls and their details.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557" y="3504628"/>
            <a:ext cx="3147978" cy="1107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Browse verified hotels &amp; halls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Compare capacity, amenities &amp; pricing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View high-quality photo galleries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Centralized multi-hotel directory</a:t>
            </a:r>
          </a:p>
        </p:txBody>
      </p:sp>
      <p:sp>
        <p:nvSpPr>
          <p:cNvPr id="20" name="Rounded Rectangle 16"/>
          <p:cNvSpPr/>
          <p:nvPr/>
        </p:nvSpPr>
        <p:spPr>
          <a:xfrm>
            <a:off x="4261816" y="1898613"/>
            <a:ext cx="365760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Oval 17"/>
          <p:cNvSpPr/>
          <p:nvPr/>
        </p:nvSpPr>
        <p:spPr>
          <a:xfrm>
            <a:off x="4572000" y="2180000"/>
            <a:ext cx="384048" cy="384048"/>
          </a:xfrm>
          <a:prstGeom prst="ellipse">
            <a:avLst/>
          </a:prstGeom>
          <a:solidFill>
            <a:srgbClr val="F4E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56048" y="2238311"/>
            <a:ext cx="2626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 dirty="0">
                <a:solidFill>
                  <a:srgbClr val="4A2040"/>
                </a:solidFill>
                <a:latin typeface="Georgia"/>
              </a:rPr>
              <a:t>📅  Easy Booking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2820414"/>
            <a:ext cx="2357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 dirty="0">
                <a:solidFill>
                  <a:srgbClr val="C5A070"/>
                </a:solidFill>
                <a:latin typeface="Calibri"/>
              </a:rPr>
              <a:t>Check availability and submit</a:t>
            </a:r>
            <a:endParaRPr lang="en-US" sz="1400" b="1" i="0" dirty="0">
              <a:solidFill>
                <a:srgbClr val="C5A070"/>
              </a:solidFill>
              <a:latin typeface="Calibri"/>
            </a:endParaRPr>
          </a:p>
          <a:p>
            <a:r>
              <a:rPr sz="1400" b="1" i="0" dirty="0">
                <a:solidFill>
                  <a:srgbClr val="C5A070"/>
                </a:solidFill>
                <a:latin typeface="Calibri"/>
              </a:rPr>
              <a:t> booking requests.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9240" y="3527294"/>
            <a:ext cx="2823209" cy="1107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Real-time event date check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Instant online request submission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Conflict prevention algorithm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Transparent request tracking</a:t>
            </a:r>
          </a:p>
        </p:txBody>
      </p:sp>
      <p:sp>
        <p:nvSpPr>
          <p:cNvPr id="22" name="Rounded Rectangle 16"/>
          <p:cNvSpPr/>
          <p:nvPr/>
        </p:nvSpPr>
        <p:spPr>
          <a:xfrm>
            <a:off x="8138160" y="1839387"/>
            <a:ext cx="365760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Oval 17"/>
          <p:cNvSpPr/>
          <p:nvPr/>
        </p:nvSpPr>
        <p:spPr>
          <a:xfrm>
            <a:off x="8231217" y="2180000"/>
            <a:ext cx="384048" cy="384048"/>
          </a:xfrm>
          <a:prstGeom prst="ellipse">
            <a:avLst/>
          </a:prstGeom>
          <a:solidFill>
            <a:srgbClr val="F4E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77188" y="2170814"/>
            <a:ext cx="310896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dirty="0">
                <a:solidFill>
                  <a:srgbClr val="4A2040"/>
                </a:solidFill>
                <a:latin typeface="Georgia"/>
              </a:rPr>
              <a:t>📊  Venue Management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744048"/>
            <a:ext cx="34383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 dirty="0">
                <a:solidFill>
                  <a:srgbClr val="C5A070"/>
                </a:solidFill>
                <a:latin typeface="Calibri"/>
              </a:rPr>
              <a:t>Owners manage halls, bookings, customers,</a:t>
            </a:r>
            <a:endParaRPr lang="en-US" sz="1400" b="1" i="0" dirty="0">
              <a:solidFill>
                <a:srgbClr val="C5A070"/>
              </a:solidFill>
              <a:latin typeface="Calibri"/>
            </a:endParaRPr>
          </a:p>
          <a:p>
            <a:r>
              <a:rPr sz="1400" b="1" i="0" dirty="0">
                <a:solidFill>
                  <a:srgbClr val="C5A070"/>
                </a:solidFill>
                <a:latin typeface="Calibri"/>
              </a:rPr>
              <a:t> and reports.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4237" y="3426102"/>
            <a:ext cx="2991525" cy="1107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Comprehensive owner dashboard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Accept, Reject &amp; Confirm bookings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Schedule on-site customer visits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Business revenue &amp; booking reports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50000"/>
            <a:ext cx="11292840" cy="65000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730000"/>
            <a:ext cx="11292840" cy="4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C5A070"/>
                </a:solidFill>
                <a:latin typeface="Calibri"/>
              </a:rPr>
              <a:t>OUR VALUE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“One platform for venue discovery, booking, and management.”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16439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7A3A6A"/>
                </a:solidFill>
                <a:latin typeface="Calibri"/>
              </a:rPr>
              <a:t>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0000" y="676656"/>
            <a:ext cx="520000" cy="16459"/>
          </a:xfrm>
          <a:prstGeom prst="rect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4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500" b="1" i="0">
                <a:solidFill>
                  <a:srgbClr val="4A2040"/>
                </a:solidFill>
                <a:latin typeface="Georgia"/>
              </a:rPr>
              <a:t>How HallHub 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05 / 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5400000" cy="443484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749808" y="19173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2057360"/>
            <a:ext cx="48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C5A070"/>
                </a:solidFill>
                <a:latin typeface="Calibri"/>
              </a:rPr>
              <a:t>STEP-BY-STEP BOOKING LIFECYCLE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357360"/>
            <a:ext cx="4800000" cy="3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</a:pPr>
            <a:r>
              <a:rPr sz="1300" b="1" i="0">
                <a:solidFill>
                  <a:srgbClr val="C5A070"/>
                </a:solidFill>
                <a:latin typeface="Calibri"/>
              </a:rPr>
              <a:t>Customer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4A2040"/>
                </a:solidFill>
                <a:latin typeface="Calibri"/>
              </a:rPr>
              <a:t>🔎  Search &amp; Discover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4A2040"/>
                </a:solidFill>
                <a:latin typeface="Calibri"/>
              </a:rPr>
              <a:t>🏨  View Hall Details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4A2040"/>
                </a:solidFill>
                <a:latin typeface="Calibri"/>
              </a:rPr>
              <a:t>📅  Check Availability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4A2040"/>
                </a:solidFill>
                <a:latin typeface="Calibri"/>
              </a:rPr>
              <a:t>📝  Submit Booking Request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4A2040"/>
                </a:solidFill>
                <a:latin typeface="Calibri"/>
              </a:rPr>
              <a:t>🏨  Owner Reviews Request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C5A070"/>
                </a:solidFill>
                <a:latin typeface="Calibri"/>
              </a:rPr>
              <a:t>✅  Accept / Reject / Confirm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6B6570"/>
                </a:solidFill>
                <a:latin typeface="Calibri"/>
              </a:rPr>
              <a:t>↓</a:t>
            </a:r>
          </a:p>
          <a:p>
            <a:pPr>
              <a:spcAft>
                <a:spcPts val="100"/>
              </a:spcAft>
            </a:pPr>
            <a:r>
              <a:rPr sz="1300" b="1" i="0">
                <a:solidFill>
                  <a:srgbClr val="4A2040"/>
                </a:solidFill>
                <a:latin typeface="Calibri"/>
              </a:rPr>
              <a:t>📊  Booking Management</a:t>
            </a:r>
          </a:p>
        </p:txBody>
      </p:sp>
      <p:pic>
        <p:nvPicPr>
          <p:cNvPr id="33" name="Picture 32" descr="17-owner-book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400" y="1559320"/>
            <a:ext cx="4905600" cy="316508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49808" y="4956504"/>
            <a:ext cx="5650000" cy="88000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50000" y="5084543"/>
            <a:ext cx="535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 dirty="0">
                <a:solidFill>
                  <a:srgbClr val="C5A070"/>
                </a:solidFill>
                <a:latin typeface="Calibri"/>
              </a:rPr>
              <a:t>THREE SYSTEM ROLES</a:t>
            </a:r>
          </a:p>
          <a:p>
            <a:pPr algn="ctr"/>
            <a:r>
              <a:rPr sz="1600" b="1" i="0" dirty="0">
                <a:solidFill>
                  <a:srgbClr val="FFFFFF"/>
                </a:solidFill>
                <a:latin typeface="Georgia"/>
              </a:rPr>
              <a:t>Customer   |   Hotel Owner   |  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16439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7A3A6A"/>
                </a:solidFill>
                <a:latin typeface="Calibri"/>
              </a:rPr>
              <a:t>Technology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90000" y="676656"/>
            <a:ext cx="520000" cy="16459"/>
          </a:xfrm>
          <a:prstGeom prst="rect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Future</a:t>
            </a:r>
          </a:p>
        </p:txBody>
      </p:sp>
      <p:sp>
        <p:nvSpPr>
          <p:cNvPr id="19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 i="0">
                <a:solidFill>
                  <a:srgbClr val="C5A070"/>
                </a:solidFill>
                <a:latin typeface="Calibri"/>
              </a:rPr>
              <a:t>06  — 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4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500" b="1" i="0">
                <a:solidFill>
                  <a:srgbClr val="4A2040"/>
                </a:solidFill>
                <a:latin typeface="Georgia"/>
              </a:rPr>
              <a:t>Built with a Modern, Scalable Web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06 / 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5532120" cy="165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707200" y="18973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7200" y="2007360"/>
            <a:ext cx="50321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C5A070"/>
                </a:solidFill>
                <a:latin typeface="Calibri"/>
              </a:rPr>
              <a:t>FRONTEND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7200" y="2277360"/>
            <a:ext cx="503212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4A2040"/>
                </a:solidFill>
                <a:latin typeface="Georgia"/>
              </a:rPr>
              <a:t>React.js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200" y="2697360"/>
            <a:ext cx="503212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Interactive and responsive user interface for customers, venue owners, and administrators.</a:t>
            </a:r>
          </a:p>
        </p:txBody>
      </p:sp>
      <p:sp>
        <p:nvSpPr>
          <p:cNvPr id="20" name="Rounded Rectangle 16"/>
          <p:cNvSpPr/>
          <p:nvPr/>
        </p:nvSpPr>
        <p:spPr>
          <a:xfrm>
            <a:off x="6217920" y="1737360"/>
            <a:ext cx="5532120" cy="165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Rounded Rectangle 17"/>
          <p:cNvSpPr/>
          <p:nvPr/>
        </p:nvSpPr>
        <p:spPr>
          <a:xfrm>
            <a:off x="6467920" y="18973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7920" y="2007360"/>
            <a:ext cx="50321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C5A070"/>
                </a:solidFill>
                <a:latin typeface="Calibri"/>
              </a:rPr>
              <a:t>BACKEND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7920" y="2277360"/>
            <a:ext cx="503212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4A2040"/>
                </a:solidFill>
                <a:latin typeface="Georgia"/>
              </a:rPr>
              <a:t>Node.js + Express.js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7920" y="2697360"/>
            <a:ext cx="503212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RESTful API services, booking verification algorithms, and server-side application logic.</a:t>
            </a:r>
          </a:p>
        </p:txBody>
      </p:sp>
      <p:sp>
        <p:nvSpPr>
          <p:cNvPr id="22" name="Rounded Rectangle 16"/>
          <p:cNvSpPr/>
          <p:nvPr/>
        </p:nvSpPr>
        <p:spPr>
          <a:xfrm>
            <a:off x="457200" y="3550000"/>
            <a:ext cx="5532120" cy="165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Rounded Rectangle 17"/>
          <p:cNvSpPr/>
          <p:nvPr/>
        </p:nvSpPr>
        <p:spPr>
          <a:xfrm>
            <a:off x="707200" y="371000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7200" y="3820000"/>
            <a:ext cx="50321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C5A070"/>
                </a:solidFill>
                <a:latin typeface="Calibri"/>
              </a:rPr>
              <a:t>DATABASE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7200" y="4090000"/>
            <a:ext cx="503212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4A2040"/>
                </a:solidFill>
                <a:latin typeface="Georgia"/>
              </a:rPr>
              <a:t>MongoDB + Mongoose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200" y="4510000"/>
            <a:ext cx="503212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Flexible schema storage and management of venues, halls, bookings, appointments, and reviews.</a:t>
            </a:r>
          </a:p>
        </p:txBody>
      </p:sp>
      <p:sp>
        <p:nvSpPr>
          <p:cNvPr id="25" name="Rounded Rectangle 16"/>
          <p:cNvSpPr/>
          <p:nvPr/>
        </p:nvSpPr>
        <p:spPr>
          <a:xfrm>
            <a:off x="6217920" y="3550000"/>
            <a:ext cx="5532120" cy="165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Rounded Rectangle 17"/>
          <p:cNvSpPr/>
          <p:nvPr/>
        </p:nvSpPr>
        <p:spPr>
          <a:xfrm>
            <a:off x="6467920" y="371000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67920" y="3820000"/>
            <a:ext cx="503212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C5A070"/>
                </a:solidFill>
                <a:latin typeface="Calibri"/>
              </a:rPr>
              <a:t>SECURITY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7920" y="4090000"/>
            <a:ext cx="503212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4A2040"/>
                </a:solidFill>
                <a:latin typeface="Georgia"/>
              </a:rPr>
              <a:t>JWT + bcrypt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7920" y="4510000"/>
            <a:ext cx="503212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Secure authentication, role-based access control, and password hashing protection.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80000"/>
            <a:ext cx="11292840" cy="75000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480000"/>
            <a:ext cx="1129284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C5A070"/>
                </a:solidFill>
                <a:latin typeface="Calibri"/>
              </a:rPr>
              <a:t>END-TO-END ARCHITECTURE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Georgia"/>
              </a:rPr>
              <a:t>React  →  Express / Node.js  →  MongoDB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16439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7A3A6A"/>
                </a:solidFill>
                <a:latin typeface="Calibri"/>
              </a:rPr>
              <a:t>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40000" y="676656"/>
            <a:ext cx="520000" cy="16459"/>
          </a:xfrm>
          <a:prstGeom prst="rect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00000" y="365760"/>
            <a:ext cx="10000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4A2040"/>
                </a:solidFill>
                <a:latin typeface="Calibri"/>
              </a:rPr>
              <a:t>Future</a:t>
            </a:r>
          </a:p>
        </p:txBody>
      </p:sp>
      <p:sp>
        <p:nvSpPr>
          <p:cNvPr id="19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1" i="0">
                <a:solidFill>
                  <a:srgbClr val="C5A070"/>
                </a:solidFill>
                <a:latin typeface="Calibri"/>
              </a:rPr>
              <a:t>07  —  IMPACT &amp;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4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500" b="1" i="0">
                <a:solidFill>
                  <a:srgbClr val="4A2040"/>
                </a:solidFill>
                <a:latin typeface="Georgia"/>
              </a:rPr>
              <a:t>Impact &amp; Outcomes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07 / 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553212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749808" y="19173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2057360"/>
            <a:ext cx="49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C5A070"/>
                </a:solidFill>
                <a:latin typeface="Calibri"/>
              </a:rPr>
              <a:t>USER BENEFITS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337360"/>
            <a:ext cx="4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4A2040"/>
                </a:solidFill>
                <a:latin typeface="Georgia"/>
              </a:rPr>
              <a:t>👥  For Customers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2887360"/>
            <a:ext cx="4540282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Faster venue discovery across multiple verified locations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Easier booking process with real-time request submission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Better access to transparent venue information &amp; pricing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Eliminates unnecessary physical travel for initial inquiries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Structured inspection visits before making final decisions</a:t>
            </a:r>
          </a:p>
        </p:txBody>
      </p:sp>
      <p:sp>
        <p:nvSpPr>
          <p:cNvPr id="20" name="Rounded Rectangle 16"/>
          <p:cNvSpPr/>
          <p:nvPr/>
        </p:nvSpPr>
        <p:spPr>
          <a:xfrm>
            <a:off x="6217920" y="1737360"/>
            <a:ext cx="5532120" cy="3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Rounded Rectangle 17"/>
          <p:cNvSpPr/>
          <p:nvPr/>
        </p:nvSpPr>
        <p:spPr>
          <a:xfrm>
            <a:off x="6510528" y="19173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10528" y="2057360"/>
            <a:ext cx="49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C5A070"/>
                </a:solidFill>
                <a:latin typeface="Calibri"/>
              </a:rPr>
              <a:t>BUSINESS ADVANTAGES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2337360"/>
            <a:ext cx="4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4A2040"/>
                </a:solidFill>
                <a:latin typeface="Georgia"/>
              </a:rPr>
              <a:t>🏨  For Hotel Owners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1760" y="3040370"/>
            <a:ext cx="5165388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Organized hall management with automated conflict checks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Easier booking management from a centralized dashboard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Better customer coordination and scheduled inspection meetups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Access to reports, revenue metrics, and booking insights</a:t>
            </a:r>
          </a:p>
          <a:p>
            <a:pPr>
              <a:spcAft>
                <a:spcPts val="6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Expanded customer reach without expensive standalone software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400000"/>
            <a:ext cx="11292840" cy="75000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5500000"/>
            <a:ext cx="1129284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C5A070"/>
                </a:solidFill>
                <a:latin typeface="Calibri"/>
              </a:rPr>
              <a:t>📈  EXPECTED OUTCOME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“Reduce the time and effort required to discover, book, and manage event venues.”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warm_bg.jp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Future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0000" y="676656"/>
            <a:ext cx="520000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351008" y="1371600"/>
            <a:ext cx="1371600" cy="411480"/>
          </a:xfrm>
          <a:prstGeom prst="ellipse">
            <a:avLst/>
          </a:prstGeom>
          <a:noFill/>
          <a:ln w="19050">
            <a:solidFill>
              <a:srgbClr val="C5A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10-Point Star 19"/>
          <p:cNvSpPr/>
          <p:nvPr/>
        </p:nvSpPr>
        <p:spPr>
          <a:xfrm>
            <a:off x="640080" y="5806440"/>
            <a:ext cx="384048" cy="384048"/>
          </a:xfrm>
          <a:prstGeom prst="star10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1600000"/>
            <a:ext cx="5400000" cy="285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900000" y="178000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0000" y="1920000"/>
            <a:ext cx="48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C5A070"/>
                </a:solidFill>
                <a:latin typeface="Calibri"/>
              </a:rPr>
              <a:t>COLLABORATION &amp;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000" y="2200000"/>
            <a:ext cx="48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4A2040"/>
                </a:solidFill>
                <a:latin typeface="Georgia"/>
              </a:rPr>
              <a:t>🤝  We Are Looking For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000" y="2650000"/>
            <a:ext cx="5028684" cy="14260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Feedback from customers and hotel owners to refine UX</a:t>
            </a: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Partnerships with hotels, banquet halls &amp; event venues</a:t>
            </a: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Opportunities to pilot, test, and improve </a:t>
            </a:r>
            <a:r>
              <a:rPr sz="1400" b="0" i="0" dirty="0" err="1">
                <a:solidFill>
                  <a:srgbClr val="2A1D33"/>
                </a:solidFill>
                <a:latin typeface="Calibri"/>
              </a:rPr>
              <a:t>HallHub</a:t>
            </a:r>
            <a:r>
              <a:rPr sz="1400" b="0" i="0" dirty="0">
                <a:solidFill>
                  <a:srgbClr val="2A1D33"/>
                </a:solidFill>
                <a:latin typeface="Calibri"/>
              </a:rPr>
              <a:t> in live markets</a:t>
            </a: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Support and resources for expanding platform capabilities</a:t>
            </a: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2A1D33"/>
                </a:solidFill>
                <a:latin typeface="Calibri"/>
              </a:rPr>
              <a:t>•  Mentorship and strategic guidance for commercial scalability</a:t>
            </a:r>
          </a:p>
        </p:txBody>
      </p:sp>
      <p:sp>
        <p:nvSpPr>
          <p:cNvPr id="16" name="Rounded Rectangle 22"/>
          <p:cNvSpPr/>
          <p:nvPr/>
        </p:nvSpPr>
        <p:spPr>
          <a:xfrm>
            <a:off x="6200000" y="1600000"/>
            <a:ext cx="5400000" cy="285000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36792" y="1753080"/>
            <a:ext cx="48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 dirty="0">
                <a:solidFill>
                  <a:srgbClr val="C5A070"/>
                </a:solidFill>
                <a:latin typeface="Calibri"/>
              </a:rPr>
              <a:t>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0449" y="1988944"/>
            <a:ext cx="48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dirty="0">
                <a:solidFill>
                  <a:srgbClr val="FFFFFF"/>
                </a:solidFill>
                <a:latin typeface="Georgia"/>
              </a:rPr>
              <a:t>🚀  Future Enhancements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0865" y="2388944"/>
            <a:ext cx="5172378" cy="1985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FFFFFF"/>
                </a:solidFill>
                <a:latin typeface="Calibri"/>
              </a:rPr>
              <a:t>💳  Online Payments
    Enable digital booking payments directly on the platform.</a:t>
            </a: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FFFFFF"/>
                </a:solidFill>
                <a:latin typeface="Calibri"/>
              </a:rPr>
              <a:t>💰  Booking Commission
    Introduce a 5% commission on online transactions.</a:t>
            </a: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FFFFFF"/>
                </a:solidFill>
                <a:latin typeface="Calibri"/>
              </a:rPr>
              <a:t>📸  Event Services Advertising
    Connect customers with photographers, decorators, caterers, DJs, </a:t>
            </a:r>
            <a:endParaRPr lang="en-US" sz="1400" b="0" i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sz="1400" b="0" i="0" dirty="0">
                <a:solidFill>
                  <a:srgbClr val="FFFFFF"/>
                </a:solidFill>
                <a:latin typeface="Calibri"/>
              </a:rPr>
              <a:t>and other event-service providers.</a:t>
            </a:r>
          </a:p>
        </p:txBody>
      </p:sp>
      <p:sp>
        <p:nvSpPr>
          <p:cNvPr id="19" name="Rounded Rectangle 16"/>
          <p:cNvSpPr/>
          <p:nvPr/>
        </p:nvSpPr>
        <p:spPr>
          <a:xfrm>
            <a:off x="640080" y="4650000"/>
            <a:ext cx="10959920" cy="150000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Rounded Rectangle 17"/>
          <p:cNvSpPr/>
          <p:nvPr/>
        </p:nvSpPr>
        <p:spPr>
          <a:xfrm>
            <a:off x="900000" y="481000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0000" y="4930000"/>
            <a:ext cx="10459920" cy="11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6570"/>
                </a:solidFill>
                <a:latin typeface="Georgia"/>
              </a:rPr>
              <a:t>What’s Next?</a:t>
            </a:r>
          </a:p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4A2040"/>
                </a:solidFill>
                <a:latin typeface="Georgia"/>
              </a:rPr>
              <a:t>HALLHUB</a:t>
            </a:r>
          </a:p>
          <a:p>
            <a:pPr algn="ctr"/>
            <a:r>
              <a:rPr sz="1800" b="1" i="0">
                <a:solidFill>
                  <a:srgbClr val="C5A070"/>
                </a:solidFill>
                <a:latin typeface="Georgia"/>
              </a:rPr>
              <a:t>Find Your Venue. Plan Your Event.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 b="0" i="0">
                <a:solidFill>
                  <a:srgbClr val="6B6570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816</Words>
  <Application>Microsoft Office PowerPoint</Application>
  <PresentationFormat>Widescreen</PresentationFormat>
  <Paragraphs>210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Georgia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Naimaa</dc:creator>
  <cp:keywords/>
  <dc:description>generated using python-pptx</dc:description>
  <cp:lastModifiedBy>naciima ahmed</cp:lastModifiedBy>
  <cp:revision>3</cp:revision>
  <dcterms:created xsi:type="dcterms:W3CDTF">2013-01-27T09:14:16Z</dcterms:created>
  <dcterms:modified xsi:type="dcterms:W3CDTF">2026-10-08T06:01:36Z</dcterms:modified>
  <cp:category/>
</cp:coreProperties>
</file>