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warm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A3A6A"/>
                </a:solidFill>
                <a:latin typeface="Calibri"/>
              </a:rPr>
              <a:t>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7303" y="676656"/>
            <a:ext cx="588873" cy="16459"/>
          </a:xfrm>
          <a:prstGeom prst="rect">
            <a:avLst/>
          </a:prstGeom>
          <a:solidFill>
            <a:srgbClr val="7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2724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3657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4A2040"/>
                </a:solidFill>
                <a:latin typeface="Calibri"/>
              </a:rP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8384" y="36576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4A2040"/>
                </a:solidFill>
                <a:latin typeface="Calibri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657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4A2040"/>
                </a:solidFill>
                <a:latin typeface="Calibri"/>
              </a:rPr>
              <a:t>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657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4A2040"/>
                </a:solidFill>
                <a:latin typeface="Calibri"/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4A2040"/>
                </a:solidFill>
                <a:latin typeface="Calibri"/>
              </a:rPr>
              <a:t>Vision</a:t>
            </a:r>
          </a:p>
        </p:txBody>
      </p:sp>
      <p:sp>
        <p:nvSpPr>
          <p:cNvPr id="14" name="Oval 13"/>
          <p:cNvSpPr/>
          <p:nvPr/>
        </p:nvSpPr>
        <p:spPr>
          <a:xfrm>
            <a:off x="10561320" y="1051560"/>
            <a:ext cx="960120" cy="960120"/>
          </a:xfrm>
          <a:prstGeom prst="ellipse">
            <a:avLst/>
          </a:prstGeom>
          <a:noFill/>
          <a:ln w="22225">
            <a:solidFill>
              <a:srgbClr val="4A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351008" y="1325880"/>
            <a:ext cx="1371600" cy="411480"/>
          </a:xfrm>
          <a:prstGeom prst="ellipse">
            <a:avLst/>
          </a:prstGeom>
          <a:noFill/>
          <a:ln w="19050">
            <a:solidFill>
              <a:srgbClr val="C5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691640"/>
            <a:ext cx="7772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0" b="1">
                <a:solidFill>
                  <a:srgbClr val="4A2040"/>
                </a:solidFill>
                <a:latin typeface="Georgia"/>
              </a:rPr>
              <a:t>Hall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80360"/>
            <a:ext cx="7772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0" b="1">
                <a:solidFill>
                  <a:srgbClr val="C5A070"/>
                </a:solidFill>
                <a:latin typeface="Georgia"/>
              </a:rPr>
              <a:t>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6175" y="4627751"/>
            <a:ext cx="78475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4A2040"/>
                </a:solidFill>
                <a:latin typeface="Calibri"/>
              </a:rPr>
              <a:t>Venue Booking &amp; Management System</a:t>
            </a:r>
          </a:p>
          <a:p>
            <a:pPr>
              <a:spcAft>
                <a:spcPts val="1200"/>
              </a:spcAft>
            </a:pPr>
            <a:r>
              <a:rPr sz="1500" b="0" i="1">
                <a:solidFill>
                  <a:srgbClr val="6B6570"/>
                </a:solidFill>
                <a:latin typeface="Calibri"/>
              </a:rPr>
              <a:t>“Making venue discovery and booking simpler, faster, and more organized.”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5A070"/>
                </a:solidFill>
                <a:latin typeface="Calibri"/>
              </a:rPr>
              <a:t>Telesom Academy  —  Graduation / Final Project Presentation</a:t>
            </a:r>
          </a:p>
          <a:p>
            <a:r>
              <a:rPr sz="1200" b="0" i="0">
                <a:solidFill>
                  <a:srgbClr val="6B6570"/>
                </a:solidFill>
                <a:latin typeface="Calibri"/>
              </a:rPr>
              <a:t>Presented by: Naima Muse Ahmed (Team Lead) &amp; HallHub Team</a:t>
            </a:r>
          </a:p>
        </p:txBody>
      </p:sp>
      <p:sp>
        <p:nvSpPr>
          <p:cNvPr id="19" name="10-Point Star 18"/>
          <p:cNvSpPr/>
          <p:nvPr/>
        </p:nvSpPr>
        <p:spPr>
          <a:xfrm>
            <a:off x="640080" y="5806440"/>
            <a:ext cx="384048" cy="384048"/>
          </a:xfrm>
          <a:prstGeom prst="star10">
            <a:avLst/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570"/>
                </a:solidFill>
                <a:latin typeface="Calibri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240" y="16439"/>
            <a:ext cx="12191999" cy="6858000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HallHub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A3A6A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8649" y="676656"/>
            <a:ext cx="614476" cy="16459"/>
          </a:xfrm>
          <a:prstGeom prst="rect">
            <a:avLst/>
          </a:prstGeom>
          <a:solidFill>
            <a:srgbClr val="7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34256" y="3657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8384" y="36576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657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657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Product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42416"/>
            <a:ext cx="201168" cy="13716"/>
          </a:xfrm>
          <a:prstGeom prst="rect">
            <a:avLst/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9601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070"/>
                </a:solidFill>
                <a:latin typeface="Calibri"/>
              </a:rPr>
              <a:t>02  —  PROBLEM &amp;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2070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A2040"/>
                </a:solidFill>
                <a:latin typeface="Georgia"/>
              </a:rPr>
              <a:t>Bridging the gap between venues and event organizers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37360"/>
            <a:ext cx="5532120" cy="416052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49808" y="1938528"/>
            <a:ext cx="502920" cy="54864"/>
          </a:xfrm>
          <a:prstGeom prst="roundRect">
            <a:avLst>
              <a:gd name="adj" fmla="val 50000"/>
            </a:avLst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2084831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070"/>
                </a:solidFill>
                <a:latin typeface="Calibri"/>
              </a:rPr>
              <a:t>THE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37743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A2040"/>
                </a:solidFill>
                <a:latin typeface="Georgia"/>
              </a:rPr>
              <a:t>Manual, fragmented venue booking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043154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570"/>
                </a:solidFill>
                <a:latin typeface="Calibri"/>
              </a:rPr>
              <a:t>Finding an event hall currently requires visiting multiple hotels, making endless phone calls, and dealing with manual paper coordination.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021562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Finding suitable event halls is difficult and time-consuming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Customers lack centralized details on pricing, capacity &amp; amenities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Checking real-time venue availability requires multiple visits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Traditional booking processes are manual, slow, and inefficient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Hotel owners lack modern digital tools to manage halls &amp; schedules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5532120" cy="4160520"/>
          </a:xfrm>
          <a:prstGeom prst="roundRect">
            <a:avLst>
              <a:gd name="adj" fmla="val 8000"/>
            </a:avLst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2084831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070"/>
                </a:solidFill>
                <a:latin typeface="Calibri"/>
              </a:rPr>
              <a:t>THE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37743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Unified venue booking &amp;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33756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alibri"/>
              </a:rPr>
              <a:t>HallHub connects customers directly with approved hotels while providing hotel owners with tools to manage halls, bookings, appointments &amp; reports.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325112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C5A070"/>
                </a:solidFill>
                <a:latin typeface="Calibri"/>
              </a:rPr>
              <a:t>•  One centralized platform for venue discovery and comparison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C5A070"/>
                </a:solidFill>
                <a:latin typeface="Calibri"/>
              </a:rPr>
              <a:t>•  Real-time hall details, pricing, capacities, amenities &amp; photos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C5A070"/>
                </a:solidFill>
                <a:latin typeface="Calibri"/>
              </a:rPr>
              <a:t>•  Streamlined booking requests with date-conflict prevention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C5A070"/>
                </a:solidFill>
                <a:latin typeface="Calibri"/>
              </a:rPr>
              <a:t>•  On-site inspection appointment scheduling before finalization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C5A070"/>
                </a:solidFill>
                <a:latin typeface="Calibri"/>
              </a:rPr>
              <a:t>•  Dedicated owner portal for managing halls, bookings &amp;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570"/>
                </a:solidFill>
                <a:latin typeface="Calibr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HallHub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4256" y="3657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A3A6A"/>
                </a:solidFill>
                <a:latin typeface="Calibri"/>
              </a:rPr>
              <a:t>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5424" y="676656"/>
            <a:ext cx="512064" cy="16459"/>
          </a:xfrm>
          <a:prstGeom prst="rect">
            <a:avLst/>
          </a:prstGeom>
          <a:solidFill>
            <a:srgbClr val="7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58384" y="36576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657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657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Discover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42416"/>
            <a:ext cx="201168" cy="13716"/>
          </a:xfrm>
          <a:prstGeom prst="rect">
            <a:avLst/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9601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070"/>
                </a:solidFill>
                <a:latin typeface="Calibri"/>
              </a:rPr>
              <a:t>03  —  SYSTEM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2070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2040"/>
                </a:solidFill>
                <a:latin typeface="Georgia"/>
              </a:rPr>
              <a:t>Three roles, clear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37360"/>
            <a:ext cx="365760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1938528"/>
            <a:ext cx="384048" cy="384048"/>
          </a:xfrm>
          <a:prstGeom prst="ellipse">
            <a:avLst/>
          </a:prstGeom>
          <a:solidFill>
            <a:srgbClr val="F4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468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A2040"/>
                </a:solidFill>
                <a:latin typeface="Georgia"/>
              </a:rPr>
              <a:t>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0779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570"/>
                </a:solidFill>
                <a:latin typeface="Calibri"/>
              </a:rPr>
              <a:t>Person booking a hall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37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A1D33"/>
                </a:solidFill>
                <a:latin typeface="Calibri"/>
              </a:rPr>
              <a:t>•  Searches for venues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A1D33"/>
                </a:solidFill>
                <a:latin typeface="Calibri"/>
              </a:rPr>
              <a:t>•  Views hall details and availability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A1D33"/>
                </a:solidFill>
                <a:latin typeface="Calibri"/>
              </a:rPr>
              <a:t>•  Makes booking requests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737360"/>
            <a:ext cx="3657600" cy="4434840"/>
          </a:xfrm>
          <a:prstGeom prst="roundRect">
            <a:avLst>
              <a:gd name="adj" fmla="val 8000"/>
            </a:avLst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0" y="1938528"/>
            <a:ext cx="384048" cy="384048"/>
          </a:xfrm>
          <a:prstGeom prst="ellipse">
            <a:avLst/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2468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Hotel 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90779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DCE4"/>
                </a:solidFill>
                <a:latin typeface="Calibri"/>
              </a:rPr>
              <a:t>Hotel / hall 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337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Registers and manages the hotel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Sets halls, prices, and availability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Handles customer bookings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737360"/>
            <a:ext cx="365760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12480" y="1938528"/>
            <a:ext cx="384048" cy="384048"/>
          </a:xfrm>
          <a:prstGeom prst="ellipse">
            <a:avLst/>
          </a:prstGeom>
          <a:solidFill>
            <a:srgbClr val="F4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2468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A2040"/>
                </a:solidFill>
                <a:latin typeface="Georgia"/>
              </a:rPr>
              <a:t>Administrator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90779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570"/>
                </a:solidFill>
                <a:latin typeface="Calibri"/>
              </a:rPr>
              <a:t>Platform administrator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337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A1D33"/>
                </a:solidFill>
                <a:latin typeface="Calibri"/>
              </a:rPr>
              <a:t>•  Manages the platform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A1D33"/>
                </a:solidFill>
                <a:latin typeface="Calibri"/>
              </a:rPr>
              <a:t>•  Reviews hotel registrations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A1D33"/>
                </a:solidFill>
                <a:latin typeface="Calibri"/>
              </a:rPr>
              <a:t>•  Approves hotels to go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570"/>
                </a:solidFill>
                <a:latin typeface="Calibri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HallHub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4256" y="3657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8384" y="36576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A3A6A"/>
                </a:solidFill>
                <a:latin typeface="Calibri"/>
              </a:rPr>
              <a:t>Next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9493" y="676656"/>
            <a:ext cx="486460" cy="16459"/>
          </a:xfrm>
          <a:prstGeom prst="rect">
            <a:avLst/>
          </a:prstGeom>
          <a:solidFill>
            <a:srgbClr val="7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3657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657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Discover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42416"/>
            <a:ext cx="201168" cy="13716"/>
          </a:xfrm>
          <a:prstGeom prst="rect">
            <a:avLst/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9601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070"/>
                </a:solidFill>
                <a:latin typeface="Calibri"/>
              </a:rPr>
              <a:t>04  —  WHAT’S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2070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2040"/>
                </a:solidFill>
                <a:latin typeface="Georgia"/>
              </a:rPr>
              <a:t>Where HallHub goes 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37360"/>
            <a:ext cx="5532120" cy="416052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9808" y="1938528"/>
            <a:ext cx="502920" cy="54864"/>
          </a:xfrm>
          <a:prstGeom prst="roundRect">
            <a:avLst>
              <a:gd name="adj" fmla="val 50000"/>
            </a:avLst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2084831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070"/>
                </a:solidFill>
                <a:latin typeface="Calibri"/>
              </a:rPr>
              <a:t>ENHANCEMENT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37743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A2040"/>
                </a:solidFill>
                <a:latin typeface="Georgia"/>
              </a:rPr>
              <a:t>Online 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33756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570"/>
                </a:solidFill>
                <a:latin typeface="Calibri"/>
              </a:rPr>
              <a:t>Customers will be able to make payments directly through HallHub, without leaving the platform.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737360"/>
            <a:ext cx="5532120" cy="4160520"/>
          </a:xfrm>
          <a:prstGeom prst="roundRect">
            <a:avLst>
              <a:gd name="adj" fmla="val 8000"/>
            </a:avLst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2084831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070"/>
                </a:solidFill>
                <a:latin typeface="Calibri"/>
              </a:rPr>
              <a:t>ENHANCEMENT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37743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Expansion across Somaliland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33756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HallHub will expand to connect customers with venues across all of Somaliland — not only Hargeisa.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570"/>
                </a:solidFill>
                <a:latin typeface="Calibri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HallHub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4256" y="3657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8384" y="36576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3657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A3A6A"/>
                </a:solidFill>
                <a:latin typeface="Calibri"/>
              </a:rPr>
              <a:t>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8485" y="676656"/>
            <a:ext cx="742492" cy="16459"/>
          </a:xfrm>
          <a:prstGeom prst="rect">
            <a:avLst/>
          </a:prstGeom>
          <a:solidFill>
            <a:srgbClr val="7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3657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Discover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42416"/>
            <a:ext cx="201168" cy="13716"/>
          </a:xfrm>
          <a:prstGeom prst="rect">
            <a:avLst/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9601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070"/>
                </a:solidFill>
                <a:latin typeface="Calibri"/>
              </a:rPr>
              <a:t>05  —  TECHNOLOGIES 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2070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2040"/>
                </a:solidFill>
                <a:latin typeface="Georgia"/>
              </a:rPr>
              <a:t>Built with a modern web 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6916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183794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07568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2040"/>
                </a:solidFill>
                <a:latin typeface="Georgia"/>
              </a:rPr>
              <a:t>React 18.3.1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56032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570"/>
                </a:solidFill>
                <a:latin typeface="Calibri"/>
              </a:rPr>
              <a:t>User interface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6916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98848" y="183794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BUILD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207568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2040"/>
                </a:solidFill>
                <a:latin typeface="Georgia"/>
              </a:rPr>
              <a:t>Vite 5.4.19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56032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570"/>
                </a:solidFill>
                <a:latin typeface="Calibri"/>
              </a:rPr>
              <a:t>Fast frontend tooling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69164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8" y="183794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207568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2040"/>
                </a:solidFill>
                <a:latin typeface="Georgia"/>
              </a:rPr>
              <a:t>React Router 6.30.1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256032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570"/>
                </a:solidFill>
                <a:latin typeface="Calibri"/>
              </a:rPr>
              <a:t>Page navigation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004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334670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HTTP CLIENT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58444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2040"/>
                </a:solidFill>
                <a:latin typeface="Georgia"/>
              </a:rPr>
              <a:t>Axios 1.19.0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06908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570"/>
                </a:solidFill>
                <a:latin typeface="Calibri"/>
              </a:rPr>
              <a:t>API requests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2004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98848" y="334670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CHARTS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358444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2040"/>
                </a:solidFill>
                <a:latin typeface="Georgia"/>
              </a:rPr>
              <a:t>Recharts 3.10.1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406908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570"/>
                </a:solidFill>
                <a:latin typeface="Calibri"/>
              </a:rPr>
              <a:t>Reports and dashboards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2004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9328" y="334670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RUNTIME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358444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2040"/>
                </a:solidFill>
                <a:latin typeface="Georgia"/>
              </a:rPr>
              <a:t>Node.js 18+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406908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570"/>
                </a:solidFill>
                <a:latin typeface="Calibri"/>
              </a:rPr>
              <a:t>Server environment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70916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485546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BACKEND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09320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2040"/>
                </a:solidFill>
                <a:latin typeface="Georgia"/>
              </a:rPr>
              <a:t>Express 5.2.1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5778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570"/>
                </a:solidFill>
                <a:latin typeface="Calibri"/>
              </a:rPr>
              <a:t>REST 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70916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98848" y="485546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DATABASE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8848" y="509320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2040"/>
                </a:solidFill>
                <a:latin typeface="Georgia"/>
              </a:rPr>
              <a:t>Mongoose 9.9.1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8848" y="55778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570"/>
                </a:solidFill>
                <a:latin typeface="Calibri"/>
              </a:rPr>
              <a:t>MongoDB data models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470916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39328" y="485546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AUTH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8" y="509320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2040"/>
                </a:solidFill>
                <a:latin typeface="Georgia"/>
              </a:rPr>
              <a:t>JWT 9.0.3  ·  bcryptjs 3.0.3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8" y="557784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570"/>
                </a:solidFill>
                <a:latin typeface="Calibri"/>
              </a:rPr>
              <a:t>Secure login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570"/>
                </a:solidFill>
                <a:latin typeface="Calibri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warm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HallHub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4256" y="3657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8384" y="36576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3657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657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A3A6A"/>
                </a:solidFill>
                <a:latin typeface="Calibri"/>
              </a:rPr>
              <a:t>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3451" y="676656"/>
            <a:ext cx="460857" cy="16459"/>
          </a:xfrm>
          <a:prstGeom prst="rect">
            <a:avLst/>
          </a:prstGeom>
          <a:solidFill>
            <a:srgbClr val="7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0508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Discover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42416"/>
            <a:ext cx="201168" cy="13716"/>
          </a:xfrm>
          <a:prstGeom prst="rect">
            <a:avLst/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9601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070"/>
                </a:solidFill>
                <a:latin typeface="Calibri"/>
              </a:rPr>
              <a:t>06  —  THE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207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2040"/>
                </a:solidFill>
                <a:latin typeface="Georgia"/>
              </a:rPr>
              <a:t>The team behind HallHub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373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191274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TEAM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1870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2040"/>
                </a:solidFill>
                <a:latin typeface="Georgia"/>
              </a:rPr>
              <a:t>Naima Muse Ahmed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619140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B6570"/>
                </a:solidFill>
                <a:latin typeface="Calibri"/>
              </a:rPr>
              <a:t>Project management, backend, authentication, and frontend–backend integration.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7373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98848" y="191274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2187060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4A2040"/>
                </a:solidFill>
                <a:latin typeface="Georgia"/>
              </a:rPr>
              <a:t>Abdicasiis</a:t>
            </a:r>
            <a:r>
              <a:rPr sz="1800" b="1" dirty="0">
                <a:solidFill>
                  <a:srgbClr val="4A2040"/>
                </a:solidFill>
                <a:latin typeface="Georgia"/>
              </a:rPr>
              <a:t> Mohamed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801" y="2769066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B6570"/>
                </a:solidFill>
                <a:latin typeface="Calibri"/>
              </a:rPr>
              <a:t>Public website, customer portal, owner portal, and admin interface.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7373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8" y="1912740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2187060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4A2040"/>
                </a:solidFill>
                <a:latin typeface="Georgia"/>
              </a:rPr>
              <a:t>Naima Abdulkarim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2769066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B6570"/>
                </a:solidFill>
                <a:latin typeface="Calibri"/>
              </a:rPr>
              <a:t>Public website, customer portal, owner portal, and admin interface.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42708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4107299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381619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4A2040"/>
                </a:solidFill>
                <a:latin typeface="Georgia"/>
              </a:rPr>
              <a:t>Rahma Mokhtar</a:t>
            </a:r>
            <a:r>
              <a:rPr lang="en-US" sz="1800" b="1" dirty="0">
                <a:solidFill>
                  <a:srgbClr val="4A2040"/>
                </a:solidFill>
                <a:latin typeface="Georgia"/>
              </a:rPr>
              <a:t> Abdi</a:t>
            </a:r>
            <a:endParaRPr sz="1800" b="1" dirty="0">
              <a:solidFill>
                <a:srgbClr val="4A2040"/>
              </a:solidFill>
              <a:latin typeface="Georgi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8" y="4873752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570"/>
                </a:solidFill>
                <a:latin typeface="Calibri"/>
              </a:rPr>
              <a:t>Public website, customer portal, owner portal, and admin interface.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942708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98848" y="4107299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UI / UX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4381619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2040"/>
                </a:solidFill>
                <a:latin typeface="Georgia"/>
              </a:rPr>
              <a:t>Sahal Khaliif Mohamed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4900104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B6570"/>
                </a:solidFill>
                <a:latin typeface="Calibri"/>
              </a:rPr>
              <a:t>Layout, visual design, brand color system, and user experience.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942708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9328" y="4107299"/>
            <a:ext cx="3246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A070"/>
                </a:solidFill>
                <a:latin typeface="Calibri"/>
              </a:rPr>
              <a:t>DOCUMENTATION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4381619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4A2040"/>
                </a:solidFill>
                <a:latin typeface="Georgia"/>
              </a:rPr>
              <a:t>Abdiqani Abdulahi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4873752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B6570"/>
                </a:solidFill>
                <a:latin typeface="Calibri"/>
              </a:rPr>
              <a:t>Project documentation, written reports, and delivery materials.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570"/>
                </a:solidFill>
                <a:latin typeface="Calibri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warm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HallHub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4256" y="3657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8384" y="36576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3657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657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A3A6A"/>
                </a:solidFill>
                <a:latin typeface="Calibri"/>
              </a:rPr>
              <a:t>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6489" y="676656"/>
            <a:ext cx="614476" cy="16459"/>
          </a:xfrm>
          <a:prstGeom prst="rect">
            <a:avLst/>
          </a:prstGeom>
          <a:solidFill>
            <a:srgbClr val="7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561320" y="1097280"/>
            <a:ext cx="960120" cy="960120"/>
          </a:xfrm>
          <a:prstGeom prst="ellipse">
            <a:avLst/>
          </a:prstGeom>
          <a:noFill/>
          <a:ln w="22225">
            <a:solidFill>
              <a:srgbClr val="4A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351008" y="1371600"/>
            <a:ext cx="1371600" cy="411480"/>
          </a:xfrm>
          <a:prstGeom prst="ellipse">
            <a:avLst/>
          </a:prstGeom>
          <a:noFill/>
          <a:ln w="19050">
            <a:solidFill>
              <a:srgbClr val="C5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0140" y="1501317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4A2040"/>
                </a:solidFill>
                <a:latin typeface="Georgia"/>
              </a:rPr>
              <a:t>Let’s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3600" y="2304182"/>
            <a:ext cx="58195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dirty="0">
                <a:solidFill>
                  <a:srgbClr val="C5A070"/>
                </a:solidFill>
                <a:latin typeface="Georgia"/>
              </a:rPr>
              <a:t>discover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7173" y="3472157"/>
            <a:ext cx="569921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dirty="0" err="1">
                <a:solidFill>
                  <a:srgbClr val="4A2040"/>
                </a:solidFill>
                <a:latin typeface="Georgia"/>
              </a:rPr>
              <a:t>HallHub</a:t>
            </a:r>
            <a:r>
              <a:rPr sz="8800" b="1" dirty="0">
                <a:solidFill>
                  <a:srgbClr val="4A2040"/>
                </a:solidFill>
                <a:latin typeface="Georgia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74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B6570"/>
                </a:solidFill>
                <a:latin typeface="Calibri"/>
              </a:rPr>
              <a:t>Open the platform. Find the hall. Book the moment — your next event starts here.</a:t>
            </a:r>
          </a:p>
        </p:txBody>
      </p:sp>
      <p:sp>
        <p:nvSpPr>
          <p:cNvPr id="20" name="10-Point Star 19"/>
          <p:cNvSpPr/>
          <p:nvPr/>
        </p:nvSpPr>
        <p:spPr>
          <a:xfrm>
            <a:off x="640080" y="5806440"/>
            <a:ext cx="384048" cy="384048"/>
          </a:xfrm>
          <a:prstGeom prst="star10">
            <a:avLst/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6570"/>
                </a:solidFill>
                <a:latin typeface="Calibri"/>
              </a:rPr>
              <a:t>07 /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5240" y="16439"/>
            <a:ext cx="12191999" cy="6858000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HallHub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7A3A6A"/>
                </a:solidFill>
                <a:latin typeface="Calibri"/>
              </a:rPr>
              <a:t>Values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0000" y="676656"/>
            <a:ext cx="520000" cy="16459"/>
          </a:xfrm>
          <a:prstGeom prst="rect">
            <a:avLst/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Vision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42416"/>
            <a:ext cx="201168" cy="13716"/>
          </a:xfrm>
          <a:prstGeom prst="rect">
            <a:avLst/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96012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03  —  VALUE PROPOSITION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207008"/>
            <a:ext cx="109728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500" b="1" i="0">
                <a:solidFill>
                  <a:srgbClr val="4A2040"/>
                </a:solidFill>
                <a:latin typeface="Georgia"/>
              </a:rPr>
              <a:t>Delivering value for both customers and venue owners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0" i="0">
                <a:solidFill>
                  <a:srgbClr val="6B6570"/>
                </a:solidFill>
                <a:latin typeface="Calibri"/>
              </a:rPr>
              <a:t>03 / 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37360"/>
            <a:ext cx="5532120" cy="350000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49808" y="19173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2057360"/>
            <a:ext cx="4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FOR CUSTOMERS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2337360"/>
            <a:ext cx="4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4A2040"/>
                </a:solidFill>
                <a:latin typeface="Georgia"/>
              </a:rPr>
              <a:t>Effortless Venue Discovery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2837360"/>
            <a:ext cx="4900000" cy="2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Discover multiple verified halls in one centralized platform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Search &amp; filter based on capacity, budget, amenities &amp; location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View transparent hall details, pricing, photos &amp; availability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Submit and track booking requests with date-conflict protection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Schedule in-person inspection appointments before confirmation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Significantly reduces the time, cost, and effort to find a 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5532120" cy="350000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6510528" y="19173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2057360"/>
            <a:ext cx="4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FOR HOTEL OWNERS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2337360"/>
            <a:ext cx="4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4A2040"/>
                </a:solidFill>
                <a:latin typeface="Georgia"/>
              </a:rPr>
              <a:t>End-to-End Venue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2837360"/>
            <a:ext cx="4900000" cy="2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Manage hotel profile, multiple halls, pricing &amp; photo galleries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Review and manage all incoming bookings from one dashboard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Accept, reject, confirm, and manage customer booking requests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Schedule customer inspection visits and save meetup notes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Automated calendar locking prevents accidental double-bookings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Access operational analytics, revenue summaries, and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00000"/>
            <a:ext cx="11292840" cy="750000"/>
          </a:xfrm>
          <a:prstGeom prst="roundRect">
            <a:avLst>
              <a:gd name="adj" fmla="val 8000"/>
            </a:avLst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5500000"/>
            <a:ext cx="1129284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C5A070"/>
                </a:solidFill>
                <a:latin typeface="Calibri"/>
              </a:rPr>
              <a:t>CORE DIFFERENTIATOR</a:t>
            </a:r>
          </a:p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“HallHub connects venue discovery and venue management in one platform.”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5240" y="16439"/>
            <a:ext cx="12191999" cy="6858000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HallHub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7A3A6A"/>
                </a:solidFill>
                <a:latin typeface="Calibri"/>
              </a:rPr>
              <a:t>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0000" y="676656"/>
            <a:ext cx="520000" cy="16459"/>
          </a:xfrm>
          <a:prstGeom prst="rect">
            <a:avLst/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Vision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42416"/>
            <a:ext cx="201168" cy="13716"/>
          </a:xfrm>
          <a:prstGeom prst="rect">
            <a:avLst/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96012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04  —  TARGET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207008"/>
            <a:ext cx="109728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500" b="1" i="0">
                <a:solidFill>
                  <a:srgbClr val="4A2040"/>
                </a:solidFill>
                <a:latin typeface="Georgia"/>
              </a:rPr>
              <a:t>Serving the growing demand for digital event venue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0" i="0">
                <a:solidFill>
                  <a:srgbClr val="6B6570"/>
                </a:solidFill>
                <a:latin typeface="Calibri"/>
              </a:rPr>
              <a:t>04 / 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37360"/>
            <a:ext cx="3657600" cy="443484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Oval 17"/>
          <p:cNvSpPr/>
          <p:nvPr/>
        </p:nvSpPr>
        <p:spPr>
          <a:xfrm>
            <a:off x="731520" y="1938528"/>
            <a:ext cx="384048" cy="384048"/>
          </a:xfrm>
          <a:prstGeom prst="ellipse">
            <a:avLst/>
          </a:prstGeom>
          <a:solidFill>
            <a:srgbClr val="F4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24688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4A2040"/>
                </a:solidFill>
                <a:latin typeface="Georgia"/>
              </a:rPr>
              <a:t>Event Organizers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9077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5A070"/>
                </a:solidFill>
                <a:latin typeface="Calibri"/>
              </a:rPr>
              <a:t>Individuals &amp; Organizations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337560"/>
            <a:ext cx="310896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Wedding parties and family celebrations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Corporate meetings, seminars &amp; workshops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University &amp; school graduation ceremonies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Community forums, conferences &amp; dinners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Seek fast comparisons, clear pricing &amp; 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737360"/>
            <a:ext cx="3657600" cy="443484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Oval 17"/>
          <p:cNvSpPr/>
          <p:nvPr/>
        </p:nvSpPr>
        <p:spPr>
          <a:xfrm>
            <a:off x="4572000" y="1938528"/>
            <a:ext cx="384048" cy="384048"/>
          </a:xfrm>
          <a:prstGeom prst="ellipse">
            <a:avLst/>
          </a:prstGeom>
          <a:solidFill>
            <a:srgbClr val="F4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24688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4A2040"/>
                </a:solidFill>
                <a:latin typeface="Georgia"/>
              </a:rPr>
              <a:t>Hotels &amp; Venues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9077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5A070"/>
                </a:solidFill>
                <a:latin typeface="Calibri"/>
              </a:rPr>
              <a:t>Venue Owners &amp; Managers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337560"/>
            <a:ext cx="310896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Hotels with banquet, conference &amp; party halls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Independent event centers and wedding venues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Seeking to transition from manual to digital tools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Need expanded market visibility across the city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Require tools to eliminate double-booking risks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737360"/>
            <a:ext cx="3657600" cy="4434840"/>
          </a:xfrm>
          <a:prstGeom prst="roundRect">
            <a:avLst>
              <a:gd name="adj" fmla="val 8000"/>
            </a:avLst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24688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Georgia"/>
              </a:rPr>
              <a:t>Market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90779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C5A070"/>
                </a:solidFill>
                <a:latin typeface="Calibri"/>
              </a:rPr>
              <a:t>Local Foundation → Regional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337560"/>
            <a:ext cx="310896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High frequency of year-round social &amp; business events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Initially focused on Hargeisa’s active hospitality sector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Strong potential to scale to other cities and regions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First-mover advantage in digitized venue ecosystems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•  Two-sided ecosystem: Customers ↔ HallHub ↔ Venue Owners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5240" y="16439"/>
            <a:ext cx="12191999" cy="6858000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HallHub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7A3A6A"/>
                </a:solidFill>
                <a:latin typeface="Calibri"/>
              </a:rPr>
              <a:t>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0000" y="676656"/>
            <a:ext cx="520000" cy="16459"/>
          </a:xfrm>
          <a:prstGeom prst="rect">
            <a:avLst/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Vision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42416"/>
            <a:ext cx="201168" cy="13716"/>
          </a:xfrm>
          <a:prstGeom prst="rect">
            <a:avLst/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96012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05  —  REVENUE STREAMS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207008"/>
            <a:ext cx="109728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500" b="1" i="0">
                <a:solidFill>
                  <a:srgbClr val="4A2040"/>
                </a:solidFill>
                <a:latin typeface="Georgia"/>
              </a:rPr>
              <a:t>Current business model and future monetization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0" i="0">
                <a:solidFill>
                  <a:srgbClr val="6B6570"/>
                </a:solidFill>
                <a:latin typeface="Calibri"/>
              </a:rPr>
              <a:t>05 / 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37360"/>
            <a:ext cx="5532120" cy="443484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49808" y="19173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2057360"/>
            <a:ext cx="4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CURRENT REVENUE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2337360"/>
            <a:ext cx="4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i="0">
                <a:solidFill>
                  <a:srgbClr val="4A2040"/>
                </a:solidFill>
                <a:latin typeface="Georgia"/>
              </a:rPr>
              <a:t>HallHub Plus ⭐ (Subscription)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2787360"/>
            <a:ext cx="4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6B6570"/>
                </a:solidFill>
                <a:latin typeface="Calibri"/>
              </a:rPr>
              <a:t>Hotel &amp; hall owners subscribe to HallHub Plus to significantly increase visibility.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287360"/>
            <a:ext cx="490000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Featured Venue Badge on listing cards to establish credibility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Higher placement in search, filter results, and venue directory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Homepage featured placement reaching high-intent event organizers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Additional profile photos &amp; high-resolution gallery showcases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Premium analytics &amp; performance reporting tools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Model: Hotel Owner → HallHub Plus Subscription → Increased Visibility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5532120" cy="4434840"/>
          </a:xfrm>
          <a:prstGeom prst="roundRect">
            <a:avLst>
              <a:gd name="adj" fmla="val 8000"/>
            </a:avLst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2057360"/>
            <a:ext cx="4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FUTURE REVENUE STREAMS  (PLANNED)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2337360"/>
            <a:ext cx="4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Georgia"/>
              </a:rPr>
              <a:t>Growth &amp; Monetization 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2787360"/>
            <a:ext cx="4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D2C3CD"/>
                </a:solidFill>
                <a:latin typeface="Calibri"/>
              </a:rPr>
              <a:t>Future enhancements not currently implemented in the system: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3287360"/>
            <a:ext cx="490000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Online Payments: Enable digital deposit and payment processing directly on HallHub (e.g. mobile money / card integration)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Booking Commission: Once online payments are implemented, earn a percentage from completed transactions (e.g., 5% fee)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Event Service Advertising: Paid placement for third-party event professionals seeking clients: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– Photographers &amp; videographers
    – Decorators, florists &amp; sound/lighting teams
    – Caterers, wedding planners, DJs &amp; makeup artists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5240" y="16439"/>
            <a:ext cx="12191999" cy="6858000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HallHub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7A3A6A"/>
                </a:solidFill>
                <a:latin typeface="Calibri"/>
              </a:rPr>
              <a:t>Advantage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000" y="676656"/>
            <a:ext cx="520000" cy="16459"/>
          </a:xfrm>
          <a:prstGeom prst="rect">
            <a:avLst/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Vision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42416"/>
            <a:ext cx="201168" cy="13716"/>
          </a:xfrm>
          <a:prstGeom prst="rect">
            <a:avLst/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96012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06  —  COMPETITIVE ADVANTAGE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207008"/>
            <a:ext cx="109728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500" b="1" i="0">
                <a:solidFill>
                  <a:srgbClr val="4A2040"/>
                </a:solidFill>
                <a:latin typeface="Georgia"/>
              </a:rPr>
              <a:t>Positioning HallHub in the venue management landscape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0" i="0">
                <a:solidFill>
                  <a:srgbClr val="6B6570"/>
                </a:solidFill>
                <a:latin typeface="Calibri"/>
              </a:rPr>
              <a:t>06 / 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37360"/>
            <a:ext cx="5532120" cy="350000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49808" y="19173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2057360"/>
            <a:ext cx="4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EXISTING ALTERNATIVES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2337360"/>
            <a:ext cx="4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4A2040"/>
                </a:solidFill>
                <a:latin typeface="Georgia"/>
              </a:rPr>
              <a:t>Current Market Landscape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2837360"/>
            <a:ext cx="4900000" cy="2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Individual Hotel Software: Proprietary tools that only serve a single hotel brand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Manual Coordination: In-person visits, direct phone calls, and informal chat messaging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Fragmented Experience: Customers must contact hotels one by one to compare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Lack of Verification: Information can be outdated, with no centralized oversight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Limited Discovery: Smaller and newer venue halls lack equal exposure to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5532120" cy="350000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6510528" y="19173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2057360"/>
            <a:ext cx="4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HALLHUB ADVANTAGE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2337360"/>
            <a:ext cx="4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4A2040"/>
                </a:solidFill>
                <a:latin typeface="Georgia"/>
              </a:rPr>
              <a:t>A Shared Two-Sided Ecosystem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2837360"/>
            <a:ext cx="4900000" cy="2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Multi-Venue Marketplace: Browse and compare multiple approved hotels in one place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Full Venue Management: Hotel owners get comprehensive operational software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Admin Trust Verification: Every hotel and hall is vetted before appearing publicly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Standardized Booking: Consistent request, scheduling, and confirmation flow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2A1D33"/>
                </a:solidFill>
                <a:latin typeface="Calibri"/>
              </a:rPr>
              <a:t>•  Level Playing Field: Quality halls gain visibility regardless of hotel marketing budget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00000"/>
            <a:ext cx="11292840" cy="750000"/>
          </a:xfrm>
          <a:prstGeom prst="roundRect">
            <a:avLst>
              <a:gd name="adj" fmla="val 8000"/>
            </a:avLst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5500000"/>
            <a:ext cx="11292840" cy="5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C5A070"/>
                </a:solidFill>
                <a:latin typeface="Calibri"/>
              </a:rPr>
              <a:t>MARKET POSITIONING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“Individual Hotel System → Focuses on one hotel.   HallHub → Connects multiple venues with customers through one platform.”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5240" y="16439"/>
            <a:ext cx="12191999" cy="6858000"/>
          </a:xfrm>
          <a:prstGeom prst="rect">
            <a:avLst/>
          </a:prstGeom>
          <a:solidFill>
            <a:srgbClr val="FA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HallHub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7A3A6A"/>
                </a:solidFill>
                <a:latin typeface="Calibri"/>
              </a:rPr>
              <a:t>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0000" y="676656"/>
            <a:ext cx="520000" cy="16459"/>
          </a:xfrm>
          <a:prstGeom prst="rect">
            <a:avLst/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0000" y="365760"/>
            <a:ext cx="1000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4A2040"/>
                </a:solidFill>
                <a:latin typeface="Calibri"/>
              </a:rPr>
              <a:t>Vision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042416"/>
            <a:ext cx="201168" cy="13716"/>
          </a:xfrm>
          <a:prstGeom prst="rect">
            <a:avLst/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96012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07  —  PRODUCT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207008"/>
            <a:ext cx="109728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500" b="1" i="0">
                <a:solidFill>
                  <a:srgbClr val="4A2040"/>
                </a:solidFill>
                <a:latin typeface="Georgia"/>
              </a:rPr>
              <a:t>How HallHub works: from venue discovery to confirmation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0" i="0">
                <a:solidFill>
                  <a:srgbClr val="6B6570"/>
                </a:solidFill>
                <a:latin typeface="Calibri"/>
              </a:rPr>
              <a:t>07 / 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737360"/>
            <a:ext cx="4900000" cy="443484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49808" y="19173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2057360"/>
            <a:ext cx="44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USER JOURNEY &amp; 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2337360"/>
            <a:ext cx="44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4A2040"/>
                </a:solidFill>
                <a:latin typeface="Georgia"/>
              </a:rPr>
              <a:t>Step-by-Step Booking Lifecycle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2787360"/>
            <a:ext cx="4400000" cy="31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2A1D33"/>
                </a:solidFill>
                <a:latin typeface="Calibri"/>
              </a:rPr>
              <a:t>1. Search &amp; Discover Venues
    Browse verified hotels, filter by guest capacity, amenities &amp; price.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A1D33"/>
                </a:solidFill>
                <a:latin typeface="Calibri"/>
              </a:rPr>
              <a:t>2. View Hall Details &amp; Real-Time Availability
    Inspect photos, check event calendar availability, and venue rules.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A1D33"/>
                </a:solidFill>
                <a:latin typeface="Calibri"/>
              </a:rPr>
              <a:t>3. Submit Booking Request
    Customer submits event date, guest count, and special requirements.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A1D33"/>
                </a:solidFill>
                <a:latin typeface="Calibri"/>
              </a:rPr>
              <a:t>4. Hotel Owner Reviews Request
    Accepts or rejects the booking request with instant status update.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A1D33"/>
                </a:solidFill>
                <a:latin typeface="Calibri"/>
              </a:rPr>
              <a:t>5. Schedule Inspection Visit
    Coordinate an in-person hall meetup with time &amp; location notes.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A1D33"/>
                </a:solidFill>
                <a:latin typeface="Calibri"/>
              </a:rPr>
              <a:t>6. Finalize &amp; Confirm Booking
    Owner records deposit collected &amp; generates official PDF invoice.</a:t>
            </a:r>
          </a:p>
        </p:txBody>
      </p:sp>
      <p:pic>
        <p:nvPicPr>
          <p:cNvPr id="33" name="Picture 32" descr="01-public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0" y="1737360"/>
            <a:ext cx="6150000" cy="1650000"/>
          </a:xfrm>
          <a:prstGeom prst="rect">
            <a:avLst/>
          </a:prstGeom>
        </p:spPr>
      </p:pic>
      <p:pic>
        <p:nvPicPr>
          <p:cNvPr id="34" name="Picture 33" descr="17-owner-book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000" y="3500000"/>
            <a:ext cx="6150000" cy="1650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600000" y="5270000"/>
            <a:ext cx="6150000" cy="900000"/>
          </a:xfrm>
          <a:prstGeom prst="roundRect">
            <a:avLst>
              <a:gd name="adj" fmla="val 8000"/>
            </a:avLst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50000" y="5350000"/>
            <a:ext cx="5850000" cy="7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C5A070"/>
                </a:solidFill>
                <a:latin typeface="Calibri"/>
              </a:rPr>
              <a:t>THREE INTEGRATED PLATFORM ROLES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Customer (Browse &amp; Book)  |  Hotel Owner (Manage &amp; Confirm)  |  Admin (Vetting &amp; Oversight)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warm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5760" y="256032"/>
            <a:ext cx="11430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29184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4A2040"/>
          </a:solidFill>
          <a:ln w="12700">
            <a:solidFill>
              <a:srgbClr val="D4B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Georgia"/>
              </a:rPr>
              <a:t>HallHub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6576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4256" y="3657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8384" y="36576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36576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65760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A2040"/>
                </a:solidFill>
                <a:latin typeface="Calibri"/>
              </a:rPr>
              <a:t>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3657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A3A6A"/>
                </a:solidFill>
                <a:latin typeface="Calibri"/>
              </a:rPr>
              <a:t>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90000" y="676656"/>
            <a:ext cx="520000" cy="16459"/>
          </a:xfrm>
          <a:prstGeom prst="rect">
            <a:avLst/>
          </a:prstGeom>
          <a:solidFill>
            <a:srgbClr val="7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561320" y="1097280"/>
            <a:ext cx="960120" cy="960120"/>
          </a:xfrm>
          <a:prstGeom prst="ellipse">
            <a:avLst/>
          </a:prstGeom>
          <a:noFill/>
          <a:ln w="22225">
            <a:solidFill>
              <a:srgbClr val="4A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351008" y="1371600"/>
            <a:ext cx="1371600" cy="411480"/>
          </a:xfrm>
          <a:prstGeom prst="ellipse">
            <a:avLst/>
          </a:prstGeom>
          <a:noFill/>
          <a:ln w="19050">
            <a:solidFill>
              <a:srgbClr val="C5A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10-Point Star 19"/>
          <p:cNvSpPr/>
          <p:nvPr/>
        </p:nvSpPr>
        <p:spPr>
          <a:xfrm>
            <a:off x="640080" y="5806440"/>
            <a:ext cx="384048" cy="384048"/>
          </a:xfrm>
          <a:prstGeom prst="star10">
            <a:avLst/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2040"/>
                </a:solidFill>
                <a:latin typeface="Georgia"/>
              </a:rPr>
              <a:t>HallHub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600000"/>
            <a:ext cx="5400000" cy="285000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900000" y="178000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000" y="1920000"/>
            <a:ext cx="48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CURRENT HALLHUB (DEPLOYED)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" y="2200000"/>
            <a:ext cx="48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4A2040"/>
                </a:solidFill>
                <a:latin typeface="Georgia"/>
              </a:rPr>
              <a:t>Core Operational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0" y="2650000"/>
            <a:ext cx="48000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sz="1100" b="0" i="0">
                <a:solidFill>
                  <a:srgbClr val="2A1D33"/>
                </a:solidFill>
                <a:latin typeface="Calibri"/>
              </a:rPr>
              <a:t>•  Venue discovery with search, capacity &amp; price filters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2A1D33"/>
                </a:solidFill>
                <a:latin typeface="Calibri"/>
              </a:rPr>
              <a:t>•  End-to-end booking lifecycle &amp; appointment scheduling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2A1D33"/>
                </a:solidFill>
                <a:latin typeface="Calibri"/>
              </a:rPr>
              <a:t>•  Customer, Hotel Owner, and Administrator portal accounts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2A1D33"/>
                </a:solidFill>
                <a:latin typeface="Calibri"/>
              </a:rPr>
              <a:t>•  Automated double-booking prevention &amp; PDF invoice generation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2A1D33"/>
                </a:solidFill>
                <a:latin typeface="Calibri"/>
              </a:rPr>
              <a:t>•  Operational &amp; revenue analytics dashboards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2A1D33"/>
                </a:solidFill>
                <a:latin typeface="Calibri"/>
              </a:rPr>
              <a:t>•  HallHub Plus premium visibility subscription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0000" y="1600000"/>
            <a:ext cx="5400000" cy="2850000"/>
          </a:xfrm>
          <a:prstGeom prst="roundRect">
            <a:avLst>
              <a:gd name="adj" fmla="val 8000"/>
            </a:avLst>
          </a:prstGeom>
          <a:solidFill>
            <a:srgbClr val="4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50000" y="1920000"/>
            <a:ext cx="48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C5A070"/>
                </a:solidFill>
                <a:latin typeface="Calibri"/>
              </a:rPr>
              <a:t>FUTURE HALLHUB (ROADMAP)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0000" y="2200000"/>
            <a:ext cx="48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Georgia"/>
              </a:rPr>
              <a:t>Full Event Planning Ecosystem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0000" y="2650000"/>
            <a:ext cx="48000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Integrated online payment processing (mobile money &amp; cards)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Transactional booking commission model (e.g. 5% fee)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Third-party event service advertising directory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Photographers, decorators, caterers, DJs &amp; makeup artists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Cross-city expansion across Somaliland and regional hubs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Evolution into an all-in-one digital event marketplace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50000"/>
            <a:ext cx="10959920" cy="150000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A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900000" y="481000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C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0000" y="4930000"/>
            <a:ext cx="10459920" cy="11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4A2040"/>
                </a:solidFill>
                <a:latin typeface="Georgia"/>
              </a:rPr>
              <a:t>“HallHub aims to evolve from a venue booking platform into a complete digital ecosystem for planning and managing events.”</a:t>
            </a:r>
          </a:p>
          <a:p>
            <a:pPr algn="ctr"/>
            <a:r>
              <a:rPr sz="2000" b="1" i="0">
                <a:solidFill>
                  <a:srgbClr val="C5A070"/>
                </a:solidFill>
                <a:latin typeface="Georgia"/>
              </a:rPr>
              <a:t>HallHub — Find Your Venue. Plan Your Event.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2801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0" i="0">
                <a:solidFill>
                  <a:srgbClr val="6B6570"/>
                </a:solidFill>
                <a:latin typeface="Calibri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558</Words>
  <Application>Microsoft Office PowerPoint</Application>
  <PresentationFormat>Widescreen</PresentationFormat>
  <Paragraphs>166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Naimaa</dc:creator>
  <cp:keywords/>
  <dc:description>generated using python-pptx</dc:description>
  <cp:lastModifiedBy>naciima ahmed</cp:lastModifiedBy>
  <cp:revision>2</cp:revision>
  <dcterms:created xsi:type="dcterms:W3CDTF">2013-01-27T09:14:16Z</dcterms:created>
  <dcterms:modified xsi:type="dcterms:W3CDTF">2026-08-20T07:12:47Z</dcterms:modified>
  <cp:category/>
</cp:coreProperties>
</file>